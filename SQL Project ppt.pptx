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60" r:id="rId4"/>
    <p:sldId id="261" r:id="rId5"/>
    <p:sldId id="274" r:id="rId6"/>
    <p:sldId id="263" r:id="rId7"/>
    <p:sldId id="264" r:id="rId8"/>
    <p:sldId id="265" r:id="rId9"/>
    <p:sldId id="266" r:id="rId10"/>
    <p:sldId id="267" r:id="rId11"/>
    <p:sldId id="268" r:id="rId12"/>
    <p:sldId id="269" r:id="rId13"/>
    <p:sldId id="270" r:id="rId14"/>
    <p:sldId id="271" r:id="rId15"/>
    <p:sldId id="272" r:id="rId16"/>
    <p:sldId id="276" r:id="rId17"/>
    <p:sldId id="275" r:id="rId18"/>
    <p:sldId id="259" r:id="rId19"/>
  </p:sldIdLst>
  <p:sldSz cx="12192000" cy="6858000"/>
  <p:notesSz cx="6858000" cy="9144000"/>
  <p:embeddedFontLst>
    <p:embeddedFont>
      <p:font typeface="Lato Black" panose="020F0502020204030203" pitchFamily="34" charset="0"/>
      <p:bold r:id="rId21"/>
      <p:boldItalic r:id="rId22"/>
    </p:embeddedFont>
    <p:embeddedFont>
      <p:font typeface="Libre Baskerville"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4HmEECUlll0m8HTY06QsqsmZGG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48086D4-819B-136F-2519-F1F37399D8AF}" name="Sandeep Kumar Madanu" initials="SM" userId="cbcbf8f6157c8d5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pavan-akuthota-86a422298/?lipi=urn%3Ali%3Apage%3Ad_flagship3_profile_view_base_contact_details%3BxLQbEecSRZuJUUIJCmnN1A%3D%3D"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github.com/pavanakuthota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16934"/>
            <a:ext cx="12190815" cy="6694098"/>
          </a:xfrm>
          <a:prstGeom prst="rect">
            <a:avLst/>
          </a:prstGeom>
          <a:noFill/>
          <a:ln>
            <a:noFill/>
          </a:ln>
        </p:spPr>
      </p:pic>
      <p:sp>
        <p:nvSpPr>
          <p:cNvPr id="99" name="Google Shape;99;p1"/>
          <p:cNvSpPr txBox="1"/>
          <p:nvPr/>
        </p:nvSpPr>
        <p:spPr>
          <a:xfrm>
            <a:off x="3268133" y="3429000"/>
            <a:ext cx="6450960" cy="1138733"/>
          </a:xfrm>
          <a:prstGeom prst="rect">
            <a:avLst/>
          </a:prstGeom>
          <a:noFill/>
          <a:ln>
            <a:noFill/>
          </a:ln>
        </p:spPr>
        <p:txBody>
          <a:bodyPr spcFirstLastPara="1" wrap="square" lIns="91425" tIns="45700" rIns="91425" bIns="45700" anchor="t" anchorCtr="0">
            <a:spAutoFit/>
          </a:bodyPr>
          <a:lstStyle/>
          <a:p>
            <a:pPr lvl="0" algn="ctr">
              <a:buSzPts val="1800"/>
            </a:pPr>
            <a:endParaRPr lang="en-IN" sz="1800" dirty="0">
              <a:solidFill>
                <a:schemeClr val="dk1"/>
              </a:solidFill>
              <a:latin typeface="Calibri"/>
              <a:ea typeface="Calibri"/>
              <a:cs typeface="Calibri"/>
              <a:sym typeface="Calibri"/>
            </a:endParaRPr>
          </a:p>
          <a:p>
            <a:pPr lvl="0" algn="ctr">
              <a:buSzPts val="1800"/>
            </a:pPr>
            <a:r>
              <a:rPr lang="en-IN" sz="3600" b="1" i="0" u="none" strike="noStrike" cap="none" dirty="0">
                <a:solidFill>
                  <a:schemeClr val="dk1"/>
                </a:solidFill>
                <a:latin typeface="Calibri"/>
                <a:ea typeface="Calibri"/>
                <a:cs typeface="Calibri"/>
                <a:sym typeface="Calibri"/>
              </a:rPr>
              <a:t>LIBRARY DATABASE ANALYSIS</a:t>
            </a:r>
          </a:p>
          <a:p>
            <a:pPr lvl="0" algn="ctr">
              <a:buSzPts val="1800"/>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00745" y="902801"/>
            <a:ext cx="7007400" cy="461624"/>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endParaRPr sz="2400" b="1" i="0" u="none" strike="noStrike" cap="none" dirty="0">
              <a:solidFill>
                <a:schemeClr val="dk1"/>
              </a:solidFill>
              <a:latin typeface="Calibri"/>
              <a:ea typeface="Calibri"/>
              <a:cs typeface="Calibri"/>
              <a:sym typeface="Calibri"/>
            </a:endParaRPr>
          </a:p>
        </p:txBody>
      </p:sp>
      <p:sp>
        <p:nvSpPr>
          <p:cNvPr id="3" name="Title 2">
            <a:extLst>
              <a:ext uri="{FF2B5EF4-FFF2-40B4-BE49-F238E27FC236}">
                <a16:creationId xmlns:a16="http://schemas.microsoft.com/office/drawing/2014/main" id="{310F6961-55D7-4EF6-B7FC-B9727F4C34FE}"/>
              </a:ext>
            </a:extLst>
          </p:cNvPr>
          <p:cNvSpPr>
            <a:spLocks noGrp="1"/>
          </p:cNvSpPr>
          <p:nvPr>
            <p:ph type="title"/>
          </p:nvPr>
        </p:nvSpPr>
        <p:spPr>
          <a:xfrm>
            <a:off x="626534" y="416554"/>
            <a:ext cx="3115733" cy="1132846"/>
          </a:xfrm>
        </p:spPr>
        <p:txBody>
          <a:bodyPr>
            <a:normAutofit fontScale="90000"/>
          </a:bodyPr>
          <a:lstStyle/>
          <a:p>
            <a:r>
              <a:rPr lang="en-IN" dirty="0">
                <a:solidFill>
                  <a:srgbClr val="FF0000"/>
                </a:solidFill>
                <a:latin typeface="Lato Black"/>
                <a:ea typeface="Lato Black"/>
                <a:cs typeface="Lato Black"/>
                <a:sym typeface="Lato Black"/>
              </a:rPr>
              <a:t>About me :</a:t>
            </a:r>
            <a:br>
              <a:rPr lang="en-IN" sz="2800" dirty="0">
                <a:solidFill>
                  <a:srgbClr val="FF0000"/>
                </a:solidFill>
              </a:rPr>
            </a:br>
            <a:endParaRPr lang="en-IN" dirty="0"/>
          </a:p>
        </p:txBody>
      </p:sp>
      <p:sp>
        <p:nvSpPr>
          <p:cNvPr id="7" name="TextBox 6">
            <a:extLst>
              <a:ext uri="{FF2B5EF4-FFF2-40B4-BE49-F238E27FC236}">
                <a16:creationId xmlns:a16="http://schemas.microsoft.com/office/drawing/2014/main" id="{DDFC2FFE-E863-6E62-6F16-891C32AFFBBD}"/>
              </a:ext>
            </a:extLst>
          </p:cNvPr>
          <p:cNvSpPr txBox="1"/>
          <p:nvPr/>
        </p:nvSpPr>
        <p:spPr>
          <a:xfrm>
            <a:off x="922867" y="1420094"/>
            <a:ext cx="10346266" cy="1692771"/>
          </a:xfrm>
          <a:prstGeom prst="rect">
            <a:avLst/>
          </a:prstGeom>
          <a:noFill/>
        </p:spPr>
        <p:txBody>
          <a:bodyPr wrap="square" rtlCol="0">
            <a:spAutoFit/>
          </a:bodyPr>
          <a:lstStyle/>
          <a:p>
            <a:pPr>
              <a:lnSpc>
                <a:spcPct val="150000"/>
              </a:lnSpc>
            </a:pPr>
            <a:r>
              <a:rPr lang="en-US" sz="2000" b="1" dirty="0"/>
              <a:t>Pavan Akuthota</a:t>
            </a:r>
          </a:p>
          <a:p>
            <a:pPr>
              <a:lnSpc>
                <a:spcPct val="150000"/>
              </a:lnSpc>
            </a:pPr>
            <a:r>
              <a:rPr lang="en-US" sz="2000" dirty="0"/>
              <a:t>MBA in Systems and Information Technology</a:t>
            </a:r>
          </a:p>
          <a:p>
            <a:pPr>
              <a:lnSpc>
                <a:spcPct val="150000"/>
              </a:lnSpc>
            </a:pPr>
            <a:r>
              <a:rPr lang="en-US" sz="2000" dirty="0">
                <a:hlinkClick r:id="rId3"/>
              </a:rPr>
              <a:t>LinkedIn</a:t>
            </a:r>
            <a:r>
              <a:rPr lang="en-US" sz="2000" dirty="0"/>
              <a:t> | </a:t>
            </a:r>
            <a:r>
              <a:rPr lang="en-US" sz="2000" dirty="0" err="1">
                <a:hlinkClick r:id="rId4"/>
              </a:rPr>
              <a:t>Github</a:t>
            </a:r>
            <a:endParaRPr lang="en-IN" sz="2000"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B72D-2263-C020-C267-BC2BD0B974B2}"/>
              </a:ext>
            </a:extLst>
          </p:cNvPr>
          <p:cNvSpPr>
            <a:spLocks noGrp="1"/>
          </p:cNvSpPr>
          <p:nvPr>
            <p:ph type="title"/>
          </p:nvPr>
        </p:nvSpPr>
        <p:spPr/>
        <p:txBody>
          <a:bodyPr>
            <a:normAutofit fontScale="90000"/>
          </a:bodyPr>
          <a:lstStyle/>
          <a:p>
            <a:r>
              <a:rPr lang="en-US" b="1" dirty="0">
                <a:solidFill>
                  <a:srgbClr val="FF0000"/>
                </a:solidFill>
              </a:rPr>
              <a:t>Project Agenda – SQL Library Database Analysis</a:t>
            </a:r>
            <a:br>
              <a:rPr lang="en-US" b="1" dirty="0"/>
            </a:br>
            <a:endParaRPr lang="en-IN" dirty="0"/>
          </a:p>
        </p:txBody>
      </p:sp>
      <p:sp>
        <p:nvSpPr>
          <p:cNvPr id="6" name="Rectangle 1">
            <a:extLst>
              <a:ext uri="{FF2B5EF4-FFF2-40B4-BE49-F238E27FC236}">
                <a16:creationId xmlns:a16="http://schemas.microsoft.com/office/drawing/2014/main" id="{792C092D-AB3C-E2D3-41ED-5040BCF7A5A7}"/>
              </a:ext>
            </a:extLst>
          </p:cNvPr>
          <p:cNvSpPr>
            <a:spLocks noGrp="1" noChangeArrowheads="1"/>
          </p:cNvSpPr>
          <p:nvPr>
            <p:ph type="body" idx="1"/>
          </p:nvPr>
        </p:nvSpPr>
        <p:spPr bwMode="auto">
          <a:xfrm>
            <a:off x="838200" y="1266786"/>
            <a:ext cx="861906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of the Project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Analysis Questions (Use Cases)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 – Key Findings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Q&amp;A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 Experience &amp; Challenges</a:t>
            </a:r>
          </a:p>
        </p:txBody>
      </p:sp>
    </p:spTree>
    <p:extLst>
      <p:ext uri="{BB962C8B-B14F-4D97-AF65-F5344CB8AC3E}">
        <p14:creationId xmlns:p14="http://schemas.microsoft.com/office/powerpoint/2010/main" val="2877491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84822-77A3-4F6B-95F7-81E70DA349B7}"/>
              </a:ext>
            </a:extLst>
          </p:cNvPr>
          <p:cNvSpPr>
            <a:spLocks noGrp="1"/>
          </p:cNvSpPr>
          <p:nvPr>
            <p:ph type="title"/>
          </p:nvPr>
        </p:nvSpPr>
        <p:spPr/>
        <p:txBody>
          <a:bodyPr>
            <a:normAutofit fontScale="90000"/>
          </a:bodyPr>
          <a:lstStyle/>
          <a:p>
            <a:br>
              <a:rPr lang="en-IN" b="1" dirty="0">
                <a:solidFill>
                  <a:srgbClr val="FF0000"/>
                </a:solidFill>
              </a:rPr>
            </a:br>
            <a:r>
              <a:rPr lang="en-IN" b="1" dirty="0">
                <a:solidFill>
                  <a:srgbClr val="FF0000"/>
                </a:solidFill>
              </a:rPr>
              <a:t>Objective of the Project</a:t>
            </a:r>
            <a:br>
              <a:rPr lang="en-IN" b="1" dirty="0"/>
            </a:br>
            <a:endParaRPr lang="en-IN" dirty="0"/>
          </a:p>
        </p:txBody>
      </p:sp>
      <p:sp>
        <p:nvSpPr>
          <p:cNvPr id="4" name="Rectangle 1">
            <a:extLst>
              <a:ext uri="{FF2B5EF4-FFF2-40B4-BE49-F238E27FC236}">
                <a16:creationId xmlns:a16="http://schemas.microsoft.com/office/drawing/2014/main" id="{39AB9E0C-C64A-34A1-F7FA-ABB238BB5DD3}"/>
              </a:ext>
            </a:extLst>
          </p:cNvPr>
          <p:cNvSpPr>
            <a:spLocks noGrp="1" noChangeArrowheads="1"/>
          </p:cNvSpPr>
          <p:nvPr>
            <p:ph type="body" idx="1"/>
          </p:nvPr>
        </p:nvSpPr>
        <p:spPr bwMode="auto">
          <a:xfrm>
            <a:off x="677334" y="2060291"/>
            <a:ext cx="108712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200000"/>
              </a:lnSpc>
              <a:spcBef>
                <a:spcPct val="0"/>
              </a:spcBef>
              <a:spcAft>
                <a:spcPct val="0"/>
              </a:spcAft>
              <a:buClrTx/>
              <a:buSzTx/>
              <a:buFontTx/>
              <a:buChar char="•"/>
            </a:pPr>
            <a:r>
              <a:rPr lang="en-US" sz="1800" dirty="0"/>
              <a:t>To design and implement a </a:t>
            </a:r>
            <a:r>
              <a:rPr lang="en-US" sz="1800" b="1" dirty="0"/>
              <a:t>Library Management System using SQL </a:t>
            </a:r>
            <a:r>
              <a:rPr lang="en-US" sz="1800" dirty="0"/>
              <a:t>relational database concepts. </a:t>
            </a:r>
          </a:p>
          <a:p>
            <a:pPr marL="0" lvl="0" indent="0" eaLnBrk="0" fontAlgn="base" hangingPunct="0">
              <a:lnSpc>
                <a:spcPct val="200000"/>
              </a:lnSpc>
              <a:spcBef>
                <a:spcPct val="0"/>
              </a:spcBef>
              <a:spcAft>
                <a:spcPct val="0"/>
              </a:spcAft>
              <a:buClrTx/>
              <a:buSzTx/>
              <a:buFontTx/>
              <a:buChar char="•"/>
            </a:pPr>
            <a:r>
              <a:rPr lang="en-US" sz="1800" dirty="0"/>
              <a:t>To </a:t>
            </a:r>
            <a:r>
              <a:rPr lang="en-US" sz="1800" b="1" dirty="0"/>
              <a:t>efficiently manage library records</a:t>
            </a:r>
            <a:r>
              <a:rPr lang="en-US" sz="1800" dirty="0"/>
              <a:t> such as books, borrowers, authors, publishers, branches, and book loans. </a:t>
            </a:r>
          </a:p>
          <a:p>
            <a:pPr marL="0" lvl="0" indent="0" eaLnBrk="0" fontAlgn="base" hangingPunct="0">
              <a:lnSpc>
                <a:spcPct val="200000"/>
              </a:lnSpc>
              <a:spcBef>
                <a:spcPct val="0"/>
              </a:spcBef>
              <a:spcAft>
                <a:spcPct val="0"/>
              </a:spcAft>
              <a:buClrTx/>
              <a:buSzTx/>
              <a:buFontTx/>
              <a:buChar char="•"/>
            </a:pPr>
            <a:r>
              <a:rPr lang="en-US" sz="1800" dirty="0"/>
              <a:t>To establish relationships between tables using </a:t>
            </a:r>
            <a:r>
              <a:rPr lang="en-US" sz="1800" b="1" dirty="0"/>
              <a:t>Primary Keys and Foreign Keys. </a:t>
            </a:r>
          </a:p>
          <a:p>
            <a:pPr marL="0" lvl="0" indent="0" eaLnBrk="0" fontAlgn="base" hangingPunct="0">
              <a:lnSpc>
                <a:spcPct val="200000"/>
              </a:lnSpc>
              <a:spcBef>
                <a:spcPct val="0"/>
              </a:spcBef>
              <a:spcAft>
                <a:spcPct val="0"/>
              </a:spcAft>
              <a:buClrTx/>
              <a:buSzTx/>
              <a:buFontTx/>
              <a:buChar char="•"/>
            </a:pPr>
            <a:r>
              <a:rPr lang="en-US" sz="1800" dirty="0"/>
              <a:t>To perform SQL-based data analysis and generate useful insights from the library database. </a:t>
            </a:r>
          </a:p>
          <a:p>
            <a:pPr marL="0" lvl="0" indent="0" eaLnBrk="0" fontAlgn="base" hangingPunct="0">
              <a:lnSpc>
                <a:spcPct val="200000"/>
              </a:lnSpc>
              <a:spcBef>
                <a:spcPct val="0"/>
              </a:spcBef>
              <a:spcAft>
                <a:spcPct val="0"/>
              </a:spcAft>
              <a:buClrTx/>
              <a:buSzTx/>
              <a:buFontTx/>
              <a:buChar char="•"/>
            </a:pPr>
            <a:r>
              <a:rPr lang="en-US" sz="1800" dirty="0"/>
              <a:t>To improve database management, querying, and analytical skills through real-world use cases.</a:t>
            </a:r>
          </a:p>
          <a:p>
            <a:pPr marL="0" lvl="0" indent="0" eaLnBrk="0" fontAlgn="base" hangingPunct="0">
              <a:lnSpc>
                <a:spcPct val="200000"/>
              </a:lnSpc>
              <a:spcBef>
                <a:spcPct val="0"/>
              </a:spcBef>
              <a:spcAft>
                <a:spcPct val="0"/>
              </a:spcAft>
              <a:buClrTx/>
              <a:buSzTx/>
              <a:buFontTx/>
              <a:buChar char="•"/>
            </a:pPr>
            <a:r>
              <a:rPr lang="en-US" altLang="en-US" sz="1800" dirty="0">
                <a:solidFill>
                  <a:schemeClr val="tx1"/>
                </a:solidFill>
                <a:latin typeface="Arial" panose="020B0604020202020204" pitchFamily="34" charset="0"/>
              </a:rPr>
              <a:t>To Strengthen skills </a:t>
            </a:r>
            <a:r>
              <a:rPr lang="en-US" altLang="en-US" sz="1800" b="1" dirty="0">
                <a:solidFill>
                  <a:schemeClr val="tx1"/>
                </a:solidFill>
                <a:latin typeface="Arial" panose="020B0604020202020204" pitchFamily="34" charset="0"/>
              </a:rPr>
              <a:t>in database design, Query writing and analytical problem solving</a:t>
            </a:r>
            <a:r>
              <a:rPr lang="en-US" altLang="en-US" sz="1800" dirty="0">
                <a:solidFill>
                  <a:schemeClr val="tx1"/>
                </a:solidFill>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CACAE043-BEBC-AEF9-2396-391996E0D384}"/>
              </a:ext>
            </a:extLst>
          </p:cNvPr>
          <p:cNvPicPr>
            <a:picLocks noChangeAspect="1"/>
          </p:cNvPicPr>
          <p:nvPr/>
        </p:nvPicPr>
        <p:blipFill>
          <a:blip r:embed="rId2"/>
          <a:stretch>
            <a:fillRect/>
          </a:stretch>
        </p:blipFill>
        <p:spPr>
          <a:xfrm>
            <a:off x="7995921" y="81280"/>
            <a:ext cx="3518746" cy="2143760"/>
          </a:xfrm>
          <a:prstGeom prst="rect">
            <a:avLst/>
          </a:prstGeom>
        </p:spPr>
      </p:pic>
    </p:spTree>
    <p:extLst>
      <p:ext uri="{BB962C8B-B14F-4D97-AF65-F5344CB8AC3E}">
        <p14:creationId xmlns:p14="http://schemas.microsoft.com/office/powerpoint/2010/main" val="3214517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D6694F-AA52-6B78-6BDD-A754656560F7}"/>
              </a:ext>
            </a:extLst>
          </p:cNvPr>
          <p:cNvSpPr>
            <a:spLocks noGrp="1"/>
          </p:cNvSpPr>
          <p:nvPr>
            <p:ph type="title"/>
          </p:nvPr>
        </p:nvSpPr>
        <p:spPr>
          <a:xfrm>
            <a:off x="838200" y="365125"/>
            <a:ext cx="10515600" cy="752475"/>
          </a:xfrm>
        </p:spPr>
        <p:txBody>
          <a:bodyPr>
            <a:normAutofit/>
          </a:bodyPr>
          <a:lstStyle/>
          <a:p>
            <a:r>
              <a:rPr lang="en-IN" sz="4000" b="1" dirty="0">
                <a:solidFill>
                  <a:srgbClr val="FF0000"/>
                </a:solidFill>
              </a:rPr>
              <a:t>System Design Overview</a:t>
            </a:r>
          </a:p>
        </p:txBody>
      </p:sp>
      <p:sp>
        <p:nvSpPr>
          <p:cNvPr id="7" name="TextBox 6">
            <a:extLst>
              <a:ext uri="{FF2B5EF4-FFF2-40B4-BE49-F238E27FC236}">
                <a16:creationId xmlns:a16="http://schemas.microsoft.com/office/drawing/2014/main" id="{54ED7363-14A5-EED4-2DE8-3EFDAC60B560}"/>
              </a:ext>
            </a:extLst>
          </p:cNvPr>
          <p:cNvSpPr txBox="1"/>
          <p:nvPr/>
        </p:nvSpPr>
        <p:spPr>
          <a:xfrm>
            <a:off x="948267" y="1346200"/>
            <a:ext cx="1735666" cy="338554"/>
          </a:xfrm>
          <a:prstGeom prst="rect">
            <a:avLst/>
          </a:prstGeom>
          <a:noFill/>
        </p:spPr>
        <p:txBody>
          <a:bodyPr wrap="square" rtlCol="0">
            <a:spAutoFit/>
          </a:bodyPr>
          <a:lstStyle/>
          <a:p>
            <a:r>
              <a:rPr lang="en-IN" sz="1600" b="1" dirty="0"/>
              <a:t>ER Diagram:</a:t>
            </a:r>
          </a:p>
        </p:txBody>
      </p:sp>
      <p:pic>
        <p:nvPicPr>
          <p:cNvPr id="3" name="Picture 2">
            <a:extLst>
              <a:ext uri="{FF2B5EF4-FFF2-40B4-BE49-F238E27FC236}">
                <a16:creationId xmlns:a16="http://schemas.microsoft.com/office/drawing/2014/main" id="{A0B99329-5198-5283-4BAD-F65C9D226770}"/>
              </a:ext>
            </a:extLst>
          </p:cNvPr>
          <p:cNvPicPr>
            <a:picLocks noChangeAspect="1"/>
          </p:cNvPicPr>
          <p:nvPr/>
        </p:nvPicPr>
        <p:blipFill>
          <a:blip r:embed="rId2"/>
          <a:stretch>
            <a:fillRect/>
          </a:stretch>
        </p:blipFill>
        <p:spPr>
          <a:xfrm>
            <a:off x="2453387" y="1255251"/>
            <a:ext cx="7973483" cy="4948450"/>
          </a:xfrm>
          <a:prstGeom prst="rect">
            <a:avLst/>
          </a:prstGeom>
        </p:spPr>
      </p:pic>
    </p:spTree>
    <p:extLst>
      <p:ext uri="{BB962C8B-B14F-4D97-AF65-F5344CB8AC3E}">
        <p14:creationId xmlns:p14="http://schemas.microsoft.com/office/powerpoint/2010/main" val="2765589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8621B8-A1C6-E279-076E-95F334A2B0C4}"/>
              </a:ext>
            </a:extLst>
          </p:cNvPr>
          <p:cNvSpPr>
            <a:spLocks noGrp="1"/>
          </p:cNvSpPr>
          <p:nvPr>
            <p:ph type="title"/>
          </p:nvPr>
        </p:nvSpPr>
        <p:spPr>
          <a:xfrm>
            <a:off x="1159933" y="931334"/>
            <a:ext cx="10193867" cy="1193800"/>
          </a:xfrm>
        </p:spPr>
        <p:txBody>
          <a:bodyPr/>
          <a:lstStyle/>
          <a:p>
            <a:r>
              <a:rPr lang="en-US" b="1" dirty="0">
                <a:solidFill>
                  <a:srgbClr val="FF0000"/>
                </a:solidFill>
              </a:rPr>
              <a:t>Key Analysis Use Cases – Library Database</a:t>
            </a:r>
            <a:endParaRPr lang="en-IN" b="1" dirty="0">
              <a:solidFill>
                <a:srgbClr val="FF0000"/>
              </a:solidFill>
            </a:endParaRPr>
          </a:p>
        </p:txBody>
      </p:sp>
      <p:pic>
        <p:nvPicPr>
          <p:cNvPr id="6" name="Picture 5">
            <a:extLst>
              <a:ext uri="{FF2B5EF4-FFF2-40B4-BE49-F238E27FC236}">
                <a16:creationId xmlns:a16="http://schemas.microsoft.com/office/drawing/2014/main" id="{19DDE2E1-7276-CF27-6805-B92E9754B467}"/>
              </a:ext>
            </a:extLst>
          </p:cNvPr>
          <p:cNvPicPr>
            <a:picLocks noChangeAspect="1"/>
          </p:cNvPicPr>
          <p:nvPr/>
        </p:nvPicPr>
        <p:blipFill>
          <a:blip r:embed="rId2"/>
          <a:stretch>
            <a:fillRect/>
          </a:stretch>
        </p:blipFill>
        <p:spPr>
          <a:xfrm>
            <a:off x="2732139" y="1878780"/>
            <a:ext cx="6451190" cy="4300793"/>
          </a:xfrm>
          <a:prstGeom prst="rect">
            <a:avLst/>
          </a:prstGeom>
        </p:spPr>
      </p:pic>
    </p:spTree>
    <p:extLst>
      <p:ext uri="{BB962C8B-B14F-4D97-AF65-F5344CB8AC3E}">
        <p14:creationId xmlns:p14="http://schemas.microsoft.com/office/powerpoint/2010/main" val="4264893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BE08F7E-DFA8-3D1A-CF52-FFF1E04E5FD9}"/>
              </a:ext>
            </a:extLst>
          </p:cNvPr>
          <p:cNvSpPr txBox="1"/>
          <p:nvPr/>
        </p:nvSpPr>
        <p:spPr>
          <a:xfrm>
            <a:off x="643467" y="330201"/>
            <a:ext cx="10405534" cy="584775"/>
          </a:xfrm>
          <a:prstGeom prst="rect">
            <a:avLst/>
          </a:prstGeom>
          <a:noFill/>
        </p:spPr>
        <p:txBody>
          <a:bodyPr wrap="square" rtlCol="0">
            <a:spAutoFit/>
          </a:bodyPr>
          <a:lstStyle/>
          <a:p>
            <a:r>
              <a:rPr lang="en-US" sz="1600" b="1" dirty="0"/>
              <a:t>Q1: How many copies of the book titled "The Lost Tribe" are owned by the library branch whose name is           "Sharpstown"?</a:t>
            </a:r>
            <a:endParaRPr lang="en-IN" sz="1600" b="1" dirty="0"/>
          </a:p>
        </p:txBody>
      </p:sp>
      <p:pic>
        <p:nvPicPr>
          <p:cNvPr id="15" name="Picture 14">
            <a:extLst>
              <a:ext uri="{FF2B5EF4-FFF2-40B4-BE49-F238E27FC236}">
                <a16:creationId xmlns:a16="http://schemas.microsoft.com/office/drawing/2014/main" id="{96E45F23-3C0B-F869-AA9E-65175E36DC8C}"/>
              </a:ext>
            </a:extLst>
          </p:cNvPr>
          <p:cNvPicPr>
            <a:picLocks noChangeAspect="1"/>
          </p:cNvPicPr>
          <p:nvPr/>
        </p:nvPicPr>
        <p:blipFill>
          <a:blip r:embed="rId2"/>
          <a:srcRect l="13402" t="24444" r="54455" b="61358"/>
          <a:stretch>
            <a:fillRect/>
          </a:stretch>
        </p:blipFill>
        <p:spPr>
          <a:xfrm>
            <a:off x="512190" y="1635760"/>
            <a:ext cx="6790191" cy="1803400"/>
          </a:xfrm>
          <a:prstGeom prst="rect">
            <a:avLst/>
          </a:prstGeom>
        </p:spPr>
      </p:pic>
      <p:pic>
        <p:nvPicPr>
          <p:cNvPr id="17" name="Picture 16">
            <a:extLst>
              <a:ext uri="{FF2B5EF4-FFF2-40B4-BE49-F238E27FC236}">
                <a16:creationId xmlns:a16="http://schemas.microsoft.com/office/drawing/2014/main" id="{D15E7805-9663-DCC7-F5E2-887131624F61}"/>
              </a:ext>
            </a:extLst>
          </p:cNvPr>
          <p:cNvPicPr>
            <a:picLocks noChangeAspect="1"/>
          </p:cNvPicPr>
          <p:nvPr/>
        </p:nvPicPr>
        <p:blipFill>
          <a:blip r:embed="rId2"/>
          <a:srcRect l="10783" t="48148" r="67373" b="47990"/>
          <a:stretch>
            <a:fillRect/>
          </a:stretch>
        </p:blipFill>
        <p:spPr>
          <a:xfrm>
            <a:off x="7332133" y="1972735"/>
            <a:ext cx="4357837" cy="683380"/>
          </a:xfrm>
          <a:prstGeom prst="rect">
            <a:avLst/>
          </a:prstGeom>
        </p:spPr>
      </p:pic>
      <p:sp>
        <p:nvSpPr>
          <p:cNvPr id="18" name="TextBox 17">
            <a:extLst>
              <a:ext uri="{FF2B5EF4-FFF2-40B4-BE49-F238E27FC236}">
                <a16:creationId xmlns:a16="http://schemas.microsoft.com/office/drawing/2014/main" id="{D7444189-63F4-87B5-2EB5-25F6840DA262}"/>
              </a:ext>
            </a:extLst>
          </p:cNvPr>
          <p:cNvSpPr txBox="1"/>
          <p:nvPr/>
        </p:nvSpPr>
        <p:spPr>
          <a:xfrm>
            <a:off x="7332133" y="1101244"/>
            <a:ext cx="1482565" cy="307777"/>
          </a:xfrm>
          <a:prstGeom prst="rect">
            <a:avLst/>
          </a:prstGeom>
          <a:noFill/>
        </p:spPr>
        <p:txBody>
          <a:bodyPr wrap="square" rtlCol="0">
            <a:spAutoFit/>
          </a:bodyPr>
          <a:lstStyle/>
          <a:p>
            <a:r>
              <a:rPr lang="en-IN" b="1" dirty="0"/>
              <a:t>Output</a:t>
            </a:r>
          </a:p>
        </p:txBody>
      </p:sp>
      <p:sp>
        <p:nvSpPr>
          <p:cNvPr id="19" name="TextBox 18">
            <a:extLst>
              <a:ext uri="{FF2B5EF4-FFF2-40B4-BE49-F238E27FC236}">
                <a16:creationId xmlns:a16="http://schemas.microsoft.com/office/drawing/2014/main" id="{8AC74C70-2DEA-6635-0585-BDADF9788A8E}"/>
              </a:ext>
            </a:extLst>
          </p:cNvPr>
          <p:cNvSpPr txBox="1"/>
          <p:nvPr/>
        </p:nvSpPr>
        <p:spPr>
          <a:xfrm>
            <a:off x="711199" y="3615267"/>
            <a:ext cx="10651067" cy="2960875"/>
          </a:xfrm>
          <a:prstGeom prst="rect">
            <a:avLst/>
          </a:prstGeom>
          <a:noFill/>
        </p:spPr>
        <p:txBody>
          <a:bodyPr wrap="square" rtlCol="0">
            <a:spAutoFit/>
          </a:bodyPr>
          <a:lstStyle/>
          <a:p>
            <a:pPr algn="just">
              <a:lnSpc>
                <a:spcPct val="150000"/>
              </a:lnSpc>
            </a:pPr>
            <a:r>
              <a:rPr lang="en-US" b="1" dirty="0"/>
              <a:t>Observation:</a:t>
            </a:r>
            <a:r>
              <a:rPr lang="en-US" dirty="0"/>
              <a:t> </a:t>
            </a:r>
          </a:p>
          <a:p>
            <a:pPr algn="just">
              <a:lnSpc>
                <a:spcPct val="150000"/>
              </a:lnSpc>
            </a:pPr>
            <a:r>
              <a:rPr lang="en-US" dirty="0"/>
              <a:t>The query joins the </a:t>
            </a:r>
            <a:r>
              <a:rPr lang="en-US" dirty="0" err="1"/>
              <a:t>tbl_book</a:t>
            </a:r>
            <a:r>
              <a:rPr lang="en-US" dirty="0"/>
              <a:t> , </a:t>
            </a:r>
            <a:r>
              <a:rPr lang="en-US" dirty="0" err="1"/>
              <a:t>tbl_book_copies</a:t>
            </a:r>
            <a:r>
              <a:rPr lang="en-US" dirty="0"/>
              <a:t> , and </a:t>
            </a:r>
            <a:r>
              <a:rPr lang="en-US" dirty="0" err="1"/>
              <a:t>tbl_library_branch</a:t>
            </a:r>
            <a:r>
              <a:rPr lang="en-US" dirty="0"/>
              <a:t> tables using their respective foreign key relationships. It filters records where the book title is </a:t>
            </a:r>
            <a:r>
              <a:rPr lang="en-US" i="1" dirty="0"/>
              <a:t>“</a:t>
            </a:r>
            <a:r>
              <a:rPr lang="en-US" dirty="0"/>
              <a:t>The Lost Tribe” and the branch name is </a:t>
            </a:r>
            <a:r>
              <a:rPr lang="en-US" i="1" dirty="0"/>
              <a:t>“</a:t>
            </a:r>
            <a:r>
              <a:rPr lang="en-US" dirty="0"/>
              <a:t>Sharpstown”.</a:t>
            </a:r>
          </a:p>
          <a:p>
            <a:pPr algn="just">
              <a:lnSpc>
                <a:spcPct val="150000"/>
              </a:lnSpc>
            </a:pPr>
            <a:r>
              <a:rPr lang="en-US" b="1" dirty="0"/>
              <a:t>Result:</a:t>
            </a:r>
            <a:r>
              <a:rPr lang="en-US" dirty="0"/>
              <a:t> </a:t>
            </a:r>
          </a:p>
          <a:p>
            <a:pPr algn="just">
              <a:lnSpc>
                <a:spcPct val="150000"/>
              </a:lnSpc>
            </a:pPr>
            <a:r>
              <a:rPr lang="en-US" dirty="0"/>
              <a:t>The output shows that the Sharpstown branch owns 5 copies of the book </a:t>
            </a:r>
            <a:r>
              <a:rPr lang="en-US" i="1" dirty="0"/>
              <a:t>“</a:t>
            </a:r>
            <a:r>
              <a:rPr lang="en-US" dirty="0"/>
              <a:t>The Lost Tribe”.</a:t>
            </a:r>
          </a:p>
          <a:p>
            <a:pPr algn="just">
              <a:lnSpc>
                <a:spcPct val="150000"/>
              </a:lnSpc>
            </a:pPr>
            <a:r>
              <a:rPr lang="en-US" b="1" dirty="0"/>
              <a:t>Insight:</a:t>
            </a:r>
            <a:r>
              <a:rPr lang="en-US" dirty="0"/>
              <a:t> </a:t>
            </a:r>
          </a:p>
          <a:p>
            <a:pPr marL="285750" indent="-285750" algn="just">
              <a:lnSpc>
                <a:spcPct val="150000"/>
              </a:lnSpc>
              <a:buFont typeface="Arial" panose="020B0604020202020204" pitchFamily="34" charset="0"/>
              <a:buChar char="•"/>
            </a:pPr>
            <a:r>
              <a:rPr lang="en-US" dirty="0"/>
              <a:t>Shows availability of a specific book in the Sharpstown branch. </a:t>
            </a:r>
          </a:p>
          <a:p>
            <a:pPr marL="285750" indent="-285750" algn="just">
              <a:lnSpc>
                <a:spcPct val="150000"/>
              </a:lnSpc>
              <a:buFont typeface="Arial" panose="020B0604020202020204" pitchFamily="34" charset="0"/>
              <a:buChar char="•"/>
            </a:pPr>
            <a:r>
              <a:rPr lang="en-US" dirty="0"/>
              <a:t>Helps librarians manage branch-wise inventory. </a:t>
            </a:r>
          </a:p>
          <a:p>
            <a:pPr marL="285750" indent="-285750" algn="just">
              <a:lnSpc>
                <a:spcPct val="150000"/>
              </a:lnSpc>
              <a:buFont typeface="Arial" panose="020B0604020202020204" pitchFamily="34" charset="0"/>
              <a:buChar char="•"/>
            </a:pPr>
            <a:r>
              <a:rPr lang="en-US" dirty="0"/>
              <a:t>Useful for checking whether enough copies are available for readers..</a:t>
            </a:r>
          </a:p>
        </p:txBody>
      </p:sp>
      <p:sp>
        <p:nvSpPr>
          <p:cNvPr id="20" name="TextBox 19">
            <a:extLst>
              <a:ext uri="{FF2B5EF4-FFF2-40B4-BE49-F238E27FC236}">
                <a16:creationId xmlns:a16="http://schemas.microsoft.com/office/drawing/2014/main" id="{FDE01E2D-409D-4F4E-9B79-716E0A0AD386}"/>
              </a:ext>
            </a:extLst>
          </p:cNvPr>
          <p:cNvSpPr txBox="1"/>
          <p:nvPr/>
        </p:nvSpPr>
        <p:spPr>
          <a:xfrm>
            <a:off x="778933" y="1101243"/>
            <a:ext cx="2294468"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731530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8989A3-4DB9-AEE1-2EA2-77B2F0503C72}"/>
              </a:ext>
            </a:extLst>
          </p:cNvPr>
          <p:cNvSpPr txBox="1"/>
          <p:nvPr/>
        </p:nvSpPr>
        <p:spPr>
          <a:xfrm>
            <a:off x="584200" y="344328"/>
            <a:ext cx="10456333" cy="338554"/>
          </a:xfrm>
          <a:prstGeom prst="rect">
            <a:avLst/>
          </a:prstGeom>
          <a:noFill/>
        </p:spPr>
        <p:txBody>
          <a:bodyPr wrap="square" rtlCol="0">
            <a:spAutoFit/>
          </a:bodyPr>
          <a:lstStyle/>
          <a:p>
            <a:r>
              <a:rPr lang="en-US" sz="1600" b="1" dirty="0"/>
              <a:t>Q2 :How many copies of the book titled "The Lost Tribe" are owned by each library branch?</a:t>
            </a:r>
            <a:endParaRPr lang="en-IN" sz="1600" b="1" dirty="0"/>
          </a:p>
        </p:txBody>
      </p:sp>
      <p:pic>
        <p:nvPicPr>
          <p:cNvPr id="5" name="Picture 4">
            <a:extLst>
              <a:ext uri="{FF2B5EF4-FFF2-40B4-BE49-F238E27FC236}">
                <a16:creationId xmlns:a16="http://schemas.microsoft.com/office/drawing/2014/main" id="{DA72C72B-1842-9692-C133-FA62A4195F5D}"/>
              </a:ext>
            </a:extLst>
          </p:cNvPr>
          <p:cNvPicPr>
            <a:picLocks noChangeAspect="1"/>
          </p:cNvPicPr>
          <p:nvPr/>
        </p:nvPicPr>
        <p:blipFill>
          <a:blip r:embed="rId2"/>
          <a:srcRect l="14155" t="22716" r="55571" b="63087"/>
          <a:stretch>
            <a:fillRect/>
          </a:stretch>
        </p:blipFill>
        <p:spPr>
          <a:xfrm>
            <a:off x="770467" y="1219344"/>
            <a:ext cx="6871327" cy="1913322"/>
          </a:xfrm>
          <a:prstGeom prst="rect">
            <a:avLst/>
          </a:prstGeom>
        </p:spPr>
      </p:pic>
      <p:pic>
        <p:nvPicPr>
          <p:cNvPr id="7" name="Picture 6">
            <a:extLst>
              <a:ext uri="{FF2B5EF4-FFF2-40B4-BE49-F238E27FC236}">
                <a16:creationId xmlns:a16="http://schemas.microsoft.com/office/drawing/2014/main" id="{9444C146-936B-D065-0E6D-BBCA76FBF259}"/>
              </a:ext>
            </a:extLst>
          </p:cNvPr>
          <p:cNvPicPr>
            <a:picLocks noChangeAspect="1"/>
          </p:cNvPicPr>
          <p:nvPr/>
        </p:nvPicPr>
        <p:blipFill>
          <a:blip r:embed="rId2"/>
          <a:srcRect l="10636" t="47778" r="66860" b="43747"/>
          <a:stretch>
            <a:fillRect/>
          </a:stretch>
        </p:blipFill>
        <p:spPr>
          <a:xfrm>
            <a:off x="7566432" y="1456267"/>
            <a:ext cx="4235843" cy="1191139"/>
          </a:xfrm>
          <a:prstGeom prst="rect">
            <a:avLst/>
          </a:prstGeom>
        </p:spPr>
      </p:pic>
      <p:sp>
        <p:nvSpPr>
          <p:cNvPr id="8" name="TextBox 7">
            <a:extLst>
              <a:ext uri="{FF2B5EF4-FFF2-40B4-BE49-F238E27FC236}">
                <a16:creationId xmlns:a16="http://schemas.microsoft.com/office/drawing/2014/main" id="{19040AE0-2C3E-88CF-A424-8A3101D98068}"/>
              </a:ext>
            </a:extLst>
          </p:cNvPr>
          <p:cNvSpPr txBox="1"/>
          <p:nvPr/>
        </p:nvSpPr>
        <p:spPr>
          <a:xfrm>
            <a:off x="7641794" y="877761"/>
            <a:ext cx="1629207" cy="307777"/>
          </a:xfrm>
          <a:prstGeom prst="rect">
            <a:avLst/>
          </a:prstGeom>
          <a:noFill/>
        </p:spPr>
        <p:txBody>
          <a:bodyPr wrap="square" rtlCol="0">
            <a:spAutoFit/>
          </a:bodyPr>
          <a:lstStyle/>
          <a:p>
            <a:r>
              <a:rPr lang="en-IN" b="1" dirty="0"/>
              <a:t>Output</a:t>
            </a:r>
          </a:p>
        </p:txBody>
      </p:sp>
      <p:sp>
        <p:nvSpPr>
          <p:cNvPr id="9" name="TextBox 8">
            <a:extLst>
              <a:ext uri="{FF2B5EF4-FFF2-40B4-BE49-F238E27FC236}">
                <a16:creationId xmlns:a16="http://schemas.microsoft.com/office/drawing/2014/main" id="{77D5274F-0E00-BB8F-7E85-438419898B4D}"/>
              </a:ext>
            </a:extLst>
          </p:cNvPr>
          <p:cNvSpPr txBox="1"/>
          <p:nvPr/>
        </p:nvSpPr>
        <p:spPr>
          <a:xfrm>
            <a:off x="770467" y="2906466"/>
            <a:ext cx="10888133" cy="2785378"/>
          </a:xfrm>
          <a:prstGeom prst="rect">
            <a:avLst/>
          </a:prstGeom>
          <a:noFill/>
        </p:spPr>
        <p:txBody>
          <a:bodyPr wrap="square" rtlCol="0">
            <a:spAutoFit/>
          </a:bodyPr>
          <a:lstStyle/>
          <a:p>
            <a:pPr>
              <a:lnSpc>
                <a:spcPct val="150000"/>
              </a:lnSpc>
            </a:pPr>
            <a:r>
              <a:rPr lang="en-US" b="1" dirty="0"/>
              <a:t>Observation:</a:t>
            </a:r>
            <a:r>
              <a:rPr lang="en-US" dirty="0"/>
              <a:t> </a:t>
            </a:r>
          </a:p>
          <a:p>
            <a:pPr>
              <a:lnSpc>
                <a:spcPct val="150000"/>
              </a:lnSpc>
            </a:pPr>
            <a:r>
              <a:rPr lang="en-US" dirty="0"/>
              <a:t>The query joins the </a:t>
            </a:r>
            <a:r>
              <a:rPr lang="en-US" dirty="0" err="1"/>
              <a:t>tbl_book</a:t>
            </a:r>
            <a:r>
              <a:rPr lang="en-US" dirty="0"/>
              <a:t>, </a:t>
            </a:r>
            <a:r>
              <a:rPr lang="en-US" dirty="0" err="1"/>
              <a:t>tbl_book_copies</a:t>
            </a:r>
            <a:r>
              <a:rPr lang="en-US" dirty="0"/>
              <a:t>, and </a:t>
            </a:r>
            <a:r>
              <a:rPr lang="en-US" dirty="0" err="1"/>
              <a:t>tbl_library_branch</a:t>
            </a:r>
            <a:r>
              <a:rPr lang="en-US" dirty="0"/>
              <a:t> tables using their foreign key relationships. It filters records where the book title is “The Lost Tribe” and retrieves the branch name along with the number of copies available in each branch.</a:t>
            </a:r>
          </a:p>
          <a:p>
            <a:pPr>
              <a:lnSpc>
                <a:spcPct val="150000"/>
              </a:lnSpc>
            </a:pPr>
            <a:r>
              <a:rPr lang="en-US" b="1" dirty="0"/>
              <a:t>Result:</a:t>
            </a:r>
          </a:p>
          <a:p>
            <a:pPr>
              <a:lnSpc>
                <a:spcPct val="150000"/>
              </a:lnSpc>
            </a:pPr>
            <a:r>
              <a:rPr lang="en-US" dirty="0"/>
              <a:t> The output shows that the book </a:t>
            </a:r>
            <a:r>
              <a:rPr lang="en-US" i="1" dirty="0"/>
              <a:t>“</a:t>
            </a:r>
            <a:r>
              <a:rPr lang="en-US" dirty="0"/>
              <a:t>The Lost Tribe” is available in </a:t>
            </a:r>
            <a:r>
              <a:rPr lang="en-US" b="1" dirty="0"/>
              <a:t>four branches</a:t>
            </a:r>
            <a:r>
              <a:rPr lang="en-US" dirty="0"/>
              <a:t> — Sharpstown, Central, Saline, and Ann Arbor — with </a:t>
            </a:r>
            <a:r>
              <a:rPr lang="en-US" b="1" dirty="0"/>
              <a:t>5 copies</a:t>
            </a:r>
            <a:r>
              <a:rPr lang="en-US" dirty="0"/>
              <a:t> in each branch.</a:t>
            </a:r>
          </a:p>
          <a:p>
            <a:pPr>
              <a:lnSpc>
                <a:spcPct val="150000"/>
              </a:lnSpc>
            </a:pPr>
            <a:r>
              <a:rPr lang="en-US" b="1" dirty="0"/>
              <a:t>Insight:</a:t>
            </a:r>
            <a:r>
              <a:rPr lang="en-US" dirty="0"/>
              <a:t> </a:t>
            </a:r>
          </a:p>
          <a:p>
            <a:r>
              <a:rPr lang="en-US" dirty="0"/>
              <a:t>This analysis helps the library understand how the copies of a specific book are distributed across branches and assists management in balancing inventory based on reader demand and branch requirements.</a:t>
            </a:r>
          </a:p>
        </p:txBody>
      </p:sp>
      <p:sp>
        <p:nvSpPr>
          <p:cNvPr id="10" name="TextBox 9">
            <a:extLst>
              <a:ext uri="{FF2B5EF4-FFF2-40B4-BE49-F238E27FC236}">
                <a16:creationId xmlns:a16="http://schemas.microsoft.com/office/drawing/2014/main" id="{0DEFB545-0209-3DC8-9C7A-5A959757389D}"/>
              </a:ext>
            </a:extLst>
          </p:cNvPr>
          <p:cNvSpPr txBox="1"/>
          <p:nvPr/>
        </p:nvSpPr>
        <p:spPr>
          <a:xfrm>
            <a:off x="905933" y="897355"/>
            <a:ext cx="2167467"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4103674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B254A7-E9FB-667D-A033-CB0002942052}"/>
              </a:ext>
            </a:extLst>
          </p:cNvPr>
          <p:cNvSpPr txBox="1"/>
          <p:nvPr/>
        </p:nvSpPr>
        <p:spPr>
          <a:xfrm>
            <a:off x="753534" y="550333"/>
            <a:ext cx="9144000" cy="338554"/>
          </a:xfrm>
          <a:prstGeom prst="rect">
            <a:avLst/>
          </a:prstGeom>
          <a:noFill/>
        </p:spPr>
        <p:txBody>
          <a:bodyPr wrap="square" rtlCol="0">
            <a:spAutoFit/>
          </a:bodyPr>
          <a:lstStyle/>
          <a:p>
            <a:r>
              <a:rPr lang="en-US" sz="1600" b="1" dirty="0"/>
              <a:t>Q3 :Retrieve the names of all borrowers who do not have any books checked out.</a:t>
            </a:r>
            <a:endParaRPr lang="en-IN" sz="1600" b="1" dirty="0"/>
          </a:p>
        </p:txBody>
      </p:sp>
      <p:pic>
        <p:nvPicPr>
          <p:cNvPr id="5" name="Picture 4">
            <a:extLst>
              <a:ext uri="{FF2B5EF4-FFF2-40B4-BE49-F238E27FC236}">
                <a16:creationId xmlns:a16="http://schemas.microsoft.com/office/drawing/2014/main" id="{D7072380-CBE4-7397-A250-5093FDD98154}"/>
              </a:ext>
            </a:extLst>
          </p:cNvPr>
          <p:cNvPicPr>
            <a:picLocks noChangeAspect="1"/>
          </p:cNvPicPr>
          <p:nvPr/>
        </p:nvPicPr>
        <p:blipFill>
          <a:blip r:embed="rId2"/>
          <a:srcRect l="13715" t="27408" r="65833" b="60617"/>
          <a:stretch>
            <a:fillRect/>
          </a:stretch>
        </p:blipFill>
        <p:spPr>
          <a:xfrm>
            <a:off x="753534" y="1319691"/>
            <a:ext cx="5190066" cy="1868614"/>
          </a:xfrm>
          <a:prstGeom prst="rect">
            <a:avLst/>
          </a:prstGeom>
        </p:spPr>
      </p:pic>
      <p:pic>
        <p:nvPicPr>
          <p:cNvPr id="7" name="Picture 6">
            <a:extLst>
              <a:ext uri="{FF2B5EF4-FFF2-40B4-BE49-F238E27FC236}">
                <a16:creationId xmlns:a16="http://schemas.microsoft.com/office/drawing/2014/main" id="{60A44997-D336-4C04-50EB-B02A94863D67}"/>
              </a:ext>
            </a:extLst>
          </p:cNvPr>
          <p:cNvPicPr>
            <a:picLocks noChangeAspect="1"/>
          </p:cNvPicPr>
          <p:nvPr/>
        </p:nvPicPr>
        <p:blipFill>
          <a:blip r:embed="rId2"/>
          <a:srcRect l="10636" t="47531" r="74190" b="47863"/>
          <a:stretch>
            <a:fillRect/>
          </a:stretch>
        </p:blipFill>
        <p:spPr>
          <a:xfrm>
            <a:off x="6976532" y="1718734"/>
            <a:ext cx="3851783" cy="694266"/>
          </a:xfrm>
          <a:prstGeom prst="rect">
            <a:avLst/>
          </a:prstGeom>
        </p:spPr>
      </p:pic>
      <p:sp>
        <p:nvSpPr>
          <p:cNvPr id="8" name="TextBox 7">
            <a:extLst>
              <a:ext uri="{FF2B5EF4-FFF2-40B4-BE49-F238E27FC236}">
                <a16:creationId xmlns:a16="http://schemas.microsoft.com/office/drawing/2014/main" id="{BF2035CE-941F-B751-EF67-728E92D341D7}"/>
              </a:ext>
            </a:extLst>
          </p:cNvPr>
          <p:cNvSpPr txBox="1"/>
          <p:nvPr/>
        </p:nvSpPr>
        <p:spPr>
          <a:xfrm>
            <a:off x="6984999" y="1114214"/>
            <a:ext cx="1769535" cy="307777"/>
          </a:xfrm>
          <a:prstGeom prst="rect">
            <a:avLst/>
          </a:prstGeom>
          <a:noFill/>
        </p:spPr>
        <p:txBody>
          <a:bodyPr wrap="square" rtlCol="0">
            <a:spAutoFit/>
          </a:bodyPr>
          <a:lstStyle/>
          <a:p>
            <a:r>
              <a:rPr lang="en-IN" b="1" dirty="0"/>
              <a:t>Output</a:t>
            </a:r>
          </a:p>
        </p:txBody>
      </p:sp>
      <p:sp>
        <p:nvSpPr>
          <p:cNvPr id="9" name="TextBox 8">
            <a:extLst>
              <a:ext uri="{FF2B5EF4-FFF2-40B4-BE49-F238E27FC236}">
                <a16:creationId xmlns:a16="http://schemas.microsoft.com/office/drawing/2014/main" id="{1C37EBE0-8AF4-0D1D-3C90-A83F6B32DE63}"/>
              </a:ext>
            </a:extLst>
          </p:cNvPr>
          <p:cNvSpPr txBox="1"/>
          <p:nvPr/>
        </p:nvSpPr>
        <p:spPr>
          <a:xfrm>
            <a:off x="905934" y="3166534"/>
            <a:ext cx="9922382" cy="2960875"/>
          </a:xfrm>
          <a:prstGeom prst="rect">
            <a:avLst/>
          </a:prstGeom>
          <a:noFill/>
        </p:spPr>
        <p:txBody>
          <a:bodyPr wrap="square" rtlCol="0">
            <a:spAutoFit/>
          </a:bodyPr>
          <a:lstStyle/>
          <a:p>
            <a:pPr>
              <a:lnSpc>
                <a:spcPct val="150000"/>
              </a:lnSpc>
            </a:pPr>
            <a:r>
              <a:rPr lang="en-US" b="1" dirty="0"/>
              <a:t>Observation:</a:t>
            </a:r>
            <a:r>
              <a:rPr lang="en-US" dirty="0"/>
              <a:t> </a:t>
            </a:r>
          </a:p>
          <a:p>
            <a:pPr>
              <a:lnSpc>
                <a:spcPct val="150000"/>
              </a:lnSpc>
            </a:pPr>
            <a:r>
              <a:rPr lang="en-US" dirty="0"/>
              <a:t>The query uses a LEFT JOIN between </a:t>
            </a:r>
            <a:r>
              <a:rPr lang="en-US" dirty="0" err="1"/>
              <a:t>tbl_borrower</a:t>
            </a:r>
            <a:r>
              <a:rPr lang="en-US" dirty="0"/>
              <a:t> and </a:t>
            </a:r>
            <a:r>
              <a:rPr lang="en-US" dirty="0" err="1"/>
              <a:t>tbl_book_loans</a:t>
            </a:r>
            <a:r>
              <a:rPr lang="en-US" dirty="0"/>
              <a:t> on the borrower’s card number. The condition WHERE </a:t>
            </a:r>
            <a:r>
              <a:rPr lang="en-US" dirty="0" err="1"/>
              <a:t>bl.book_loans_CardNo</a:t>
            </a:r>
            <a:r>
              <a:rPr lang="en-US" dirty="0"/>
              <a:t> IS NULL filters out borrowers who have no matching records in the </a:t>
            </a:r>
            <a:r>
              <a:rPr lang="en-US" dirty="0" err="1"/>
              <a:t>tbl_book_loans</a:t>
            </a:r>
            <a:r>
              <a:rPr lang="en-US" dirty="0"/>
              <a:t> table — meaning they haven’t borrowed any books.</a:t>
            </a:r>
          </a:p>
          <a:p>
            <a:pPr>
              <a:lnSpc>
                <a:spcPct val="150000"/>
              </a:lnSpc>
            </a:pPr>
            <a:r>
              <a:rPr lang="en-US" b="1" dirty="0"/>
              <a:t>Result:</a:t>
            </a:r>
          </a:p>
          <a:p>
            <a:pPr>
              <a:lnSpc>
                <a:spcPct val="150000"/>
              </a:lnSpc>
            </a:pPr>
            <a:r>
              <a:rPr lang="en-US" dirty="0"/>
              <a:t> The output shows that </a:t>
            </a:r>
            <a:r>
              <a:rPr lang="en-US" b="1" dirty="0"/>
              <a:t>Jane Smith (Card No: 101)</a:t>
            </a:r>
            <a:r>
              <a:rPr lang="en-US" dirty="0"/>
              <a:t> has not checked out any books.</a:t>
            </a:r>
          </a:p>
          <a:p>
            <a:pPr>
              <a:lnSpc>
                <a:spcPct val="150000"/>
              </a:lnSpc>
            </a:pPr>
            <a:r>
              <a:rPr lang="en-US" b="1" dirty="0"/>
              <a:t>Insight:</a:t>
            </a:r>
          </a:p>
          <a:p>
            <a:pPr>
              <a:lnSpc>
                <a:spcPct val="150000"/>
              </a:lnSpc>
            </a:pPr>
            <a:r>
              <a:rPr lang="en-US" dirty="0"/>
              <a:t>This query helps identify inactive borrowers and provides useful information for the library to improve user engagement by encouraging these members to utilize library resources more actively.</a:t>
            </a:r>
            <a:endParaRPr lang="en-IN" dirty="0"/>
          </a:p>
        </p:txBody>
      </p:sp>
      <p:sp>
        <p:nvSpPr>
          <p:cNvPr id="10" name="TextBox 9">
            <a:extLst>
              <a:ext uri="{FF2B5EF4-FFF2-40B4-BE49-F238E27FC236}">
                <a16:creationId xmlns:a16="http://schemas.microsoft.com/office/drawing/2014/main" id="{3995440D-2EE5-E32B-AE14-455AAE0E3392}"/>
              </a:ext>
            </a:extLst>
          </p:cNvPr>
          <p:cNvSpPr txBox="1"/>
          <p:nvPr/>
        </p:nvSpPr>
        <p:spPr>
          <a:xfrm>
            <a:off x="973667" y="993006"/>
            <a:ext cx="2641600"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2573175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D1EADD-34E9-9D7C-4657-1602537BAD43}"/>
              </a:ext>
            </a:extLst>
          </p:cNvPr>
          <p:cNvSpPr txBox="1"/>
          <p:nvPr/>
        </p:nvSpPr>
        <p:spPr>
          <a:xfrm>
            <a:off x="719666" y="322787"/>
            <a:ext cx="10574867" cy="523220"/>
          </a:xfrm>
          <a:prstGeom prst="rect">
            <a:avLst/>
          </a:prstGeom>
          <a:noFill/>
        </p:spPr>
        <p:txBody>
          <a:bodyPr wrap="square" rtlCol="0">
            <a:spAutoFit/>
          </a:bodyPr>
          <a:lstStyle/>
          <a:p>
            <a:r>
              <a:rPr lang="en-US" b="1" dirty="0"/>
              <a:t>Q4 : For each book that is loaned out from the "Sharpstown" branch and whose </a:t>
            </a:r>
            <a:r>
              <a:rPr lang="en-US" b="1" dirty="0" err="1"/>
              <a:t>DueDate</a:t>
            </a:r>
            <a:r>
              <a:rPr lang="en-US" b="1" dirty="0"/>
              <a:t> is 2/3/18, retrieve the book title, the borrower's name, and the borrower's address. </a:t>
            </a:r>
            <a:endParaRPr lang="en-IN" b="1" dirty="0"/>
          </a:p>
        </p:txBody>
      </p:sp>
      <p:pic>
        <p:nvPicPr>
          <p:cNvPr id="4" name="Picture 3">
            <a:extLst>
              <a:ext uri="{FF2B5EF4-FFF2-40B4-BE49-F238E27FC236}">
                <a16:creationId xmlns:a16="http://schemas.microsoft.com/office/drawing/2014/main" id="{ED7742CD-EB66-AA85-796A-A7444B463AEF}"/>
              </a:ext>
            </a:extLst>
          </p:cNvPr>
          <p:cNvPicPr>
            <a:picLocks noChangeAspect="1"/>
          </p:cNvPicPr>
          <p:nvPr/>
        </p:nvPicPr>
        <p:blipFill>
          <a:blip r:embed="rId2"/>
          <a:srcRect l="14375" t="16271" r="44209" b="60494"/>
          <a:stretch>
            <a:fillRect/>
          </a:stretch>
        </p:blipFill>
        <p:spPr>
          <a:xfrm>
            <a:off x="719666" y="1137649"/>
            <a:ext cx="6112933" cy="2066527"/>
          </a:xfrm>
          <a:prstGeom prst="rect">
            <a:avLst/>
          </a:prstGeom>
        </p:spPr>
      </p:pic>
      <p:pic>
        <p:nvPicPr>
          <p:cNvPr id="6" name="Picture 5">
            <a:extLst>
              <a:ext uri="{FF2B5EF4-FFF2-40B4-BE49-F238E27FC236}">
                <a16:creationId xmlns:a16="http://schemas.microsoft.com/office/drawing/2014/main" id="{46F42874-C89F-6340-DB74-F009BE17E14B}"/>
              </a:ext>
            </a:extLst>
          </p:cNvPr>
          <p:cNvPicPr>
            <a:picLocks noChangeAspect="1"/>
          </p:cNvPicPr>
          <p:nvPr/>
        </p:nvPicPr>
        <p:blipFill>
          <a:blip r:embed="rId2"/>
          <a:srcRect l="10710" t="48025" r="56304" b="40123"/>
          <a:stretch>
            <a:fillRect/>
          </a:stretch>
        </p:blipFill>
        <p:spPr>
          <a:xfrm>
            <a:off x="6832599" y="1476645"/>
            <a:ext cx="5208325" cy="1388533"/>
          </a:xfrm>
          <a:prstGeom prst="rect">
            <a:avLst/>
          </a:prstGeom>
        </p:spPr>
      </p:pic>
      <p:sp>
        <p:nvSpPr>
          <p:cNvPr id="7" name="TextBox 6">
            <a:extLst>
              <a:ext uri="{FF2B5EF4-FFF2-40B4-BE49-F238E27FC236}">
                <a16:creationId xmlns:a16="http://schemas.microsoft.com/office/drawing/2014/main" id="{400F1403-5365-36C6-7E76-019A74551E65}"/>
              </a:ext>
            </a:extLst>
          </p:cNvPr>
          <p:cNvSpPr txBox="1"/>
          <p:nvPr/>
        </p:nvSpPr>
        <p:spPr>
          <a:xfrm>
            <a:off x="6722533" y="894745"/>
            <a:ext cx="1769534" cy="307777"/>
          </a:xfrm>
          <a:prstGeom prst="rect">
            <a:avLst/>
          </a:prstGeom>
          <a:noFill/>
        </p:spPr>
        <p:txBody>
          <a:bodyPr wrap="square" rtlCol="0">
            <a:spAutoFit/>
          </a:bodyPr>
          <a:lstStyle/>
          <a:p>
            <a:r>
              <a:rPr lang="en-IN" b="1" dirty="0"/>
              <a:t>Output</a:t>
            </a:r>
          </a:p>
        </p:txBody>
      </p:sp>
      <p:sp>
        <p:nvSpPr>
          <p:cNvPr id="8" name="TextBox 7">
            <a:extLst>
              <a:ext uri="{FF2B5EF4-FFF2-40B4-BE49-F238E27FC236}">
                <a16:creationId xmlns:a16="http://schemas.microsoft.com/office/drawing/2014/main" id="{75916A64-7611-3F61-29CB-6F3846246FC5}"/>
              </a:ext>
            </a:extLst>
          </p:cNvPr>
          <p:cNvSpPr txBox="1"/>
          <p:nvPr/>
        </p:nvSpPr>
        <p:spPr>
          <a:xfrm>
            <a:off x="719666" y="3495816"/>
            <a:ext cx="11199423" cy="2960875"/>
          </a:xfrm>
          <a:prstGeom prst="rect">
            <a:avLst/>
          </a:prstGeom>
          <a:noFill/>
        </p:spPr>
        <p:txBody>
          <a:bodyPr wrap="square" rtlCol="0">
            <a:spAutoFit/>
          </a:bodyPr>
          <a:lstStyle/>
          <a:p>
            <a:pPr>
              <a:lnSpc>
                <a:spcPct val="150000"/>
              </a:lnSpc>
            </a:pPr>
            <a:r>
              <a:rPr lang="en-US" b="1" dirty="0"/>
              <a:t>Observation:</a:t>
            </a:r>
            <a:r>
              <a:rPr lang="en-US" dirty="0"/>
              <a:t> The query joins four tables — </a:t>
            </a:r>
            <a:r>
              <a:rPr lang="en-US" dirty="0" err="1"/>
              <a:t>tbl_library_branch</a:t>
            </a:r>
            <a:r>
              <a:rPr lang="en-US" dirty="0"/>
              <a:t>, </a:t>
            </a:r>
            <a:r>
              <a:rPr lang="en-US" dirty="0" err="1"/>
              <a:t>tbl_book_loans</a:t>
            </a:r>
            <a:r>
              <a:rPr lang="en-US" dirty="0"/>
              <a:t>, </a:t>
            </a:r>
            <a:r>
              <a:rPr lang="en-US" dirty="0" err="1"/>
              <a:t>tbl_borrower</a:t>
            </a:r>
            <a:r>
              <a:rPr lang="en-US" dirty="0"/>
              <a:t>, and </a:t>
            </a:r>
            <a:r>
              <a:rPr lang="en-US" dirty="0" err="1"/>
              <a:t>tbl_book</a:t>
            </a:r>
            <a:r>
              <a:rPr lang="en-US" dirty="0"/>
              <a:t> — using their foreign key relationships. It filters records where the branch name is </a:t>
            </a:r>
            <a:r>
              <a:rPr lang="en-US" i="1" dirty="0"/>
              <a:t>“</a:t>
            </a:r>
            <a:r>
              <a:rPr lang="en-US" dirty="0"/>
              <a:t>Sharpstown” and the due date matches </a:t>
            </a:r>
            <a:r>
              <a:rPr lang="en-US" i="1" dirty="0"/>
              <a:t>“0002‑03‑18”</a:t>
            </a:r>
            <a:r>
              <a:rPr lang="en-US" dirty="0"/>
              <a:t>. This ensures only relevant loan transactions are displayed.</a:t>
            </a:r>
          </a:p>
          <a:p>
            <a:pPr>
              <a:lnSpc>
                <a:spcPct val="150000"/>
              </a:lnSpc>
            </a:pPr>
            <a:r>
              <a:rPr lang="en-US" b="1" dirty="0"/>
              <a:t>Result:</a:t>
            </a:r>
            <a:r>
              <a:rPr lang="en-US" dirty="0"/>
              <a:t> The output lists six books (The Hobbit, Eragon, A Wise Man’s Fear, Harry Potter and the Philosopher’s Stone, Hard Boiled Wonderland and the End of the World, The Hitchhiker’s Guide to the Galaxy) all borrowed by </a:t>
            </a:r>
            <a:r>
              <a:rPr lang="en-US" b="1" dirty="0"/>
              <a:t>Tom Li</a:t>
            </a:r>
            <a:r>
              <a:rPr lang="en-US" dirty="0"/>
              <a:t>, residing at </a:t>
            </a:r>
            <a:r>
              <a:rPr lang="en-US" b="1" dirty="0"/>
              <a:t>981 Main Street, Ann Arbor, MI 48104</a:t>
            </a:r>
            <a:r>
              <a:rPr lang="en-US" dirty="0"/>
              <a:t>.</a:t>
            </a:r>
          </a:p>
          <a:p>
            <a:pPr>
              <a:lnSpc>
                <a:spcPct val="150000"/>
              </a:lnSpc>
            </a:pPr>
            <a:r>
              <a:rPr lang="en-US" b="1" dirty="0"/>
              <a:t>Insight:-</a:t>
            </a:r>
          </a:p>
          <a:p>
            <a:pPr>
              <a:lnSpc>
                <a:spcPct val="150000"/>
              </a:lnSpc>
            </a:pPr>
            <a:r>
              <a:rPr lang="en-US" dirty="0"/>
              <a:t>This query supports effective loan tracking by helping the library monitor due books on a specific date, making it easier to manage returns, send reminders, and reduce overdue cases.</a:t>
            </a:r>
            <a:endParaRPr lang="en-IN" dirty="0"/>
          </a:p>
        </p:txBody>
      </p:sp>
      <p:sp>
        <p:nvSpPr>
          <p:cNvPr id="9" name="TextBox 8">
            <a:extLst>
              <a:ext uri="{FF2B5EF4-FFF2-40B4-BE49-F238E27FC236}">
                <a16:creationId xmlns:a16="http://schemas.microsoft.com/office/drawing/2014/main" id="{B0FC73F2-0798-9B63-90F1-2251BAB98AA4}"/>
              </a:ext>
            </a:extLst>
          </p:cNvPr>
          <p:cNvSpPr txBox="1"/>
          <p:nvPr/>
        </p:nvSpPr>
        <p:spPr>
          <a:xfrm>
            <a:off x="719667" y="894745"/>
            <a:ext cx="2963334"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921566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F3CAB1-A541-5400-9F77-A96D97436A92}"/>
              </a:ext>
            </a:extLst>
          </p:cNvPr>
          <p:cNvSpPr txBox="1"/>
          <p:nvPr/>
        </p:nvSpPr>
        <p:spPr>
          <a:xfrm>
            <a:off x="635000" y="524932"/>
            <a:ext cx="11209867" cy="338554"/>
          </a:xfrm>
          <a:prstGeom prst="rect">
            <a:avLst/>
          </a:prstGeom>
          <a:noFill/>
        </p:spPr>
        <p:txBody>
          <a:bodyPr wrap="square" rtlCol="0">
            <a:spAutoFit/>
          </a:bodyPr>
          <a:lstStyle/>
          <a:p>
            <a:r>
              <a:rPr lang="en-US" sz="1600" b="1" dirty="0"/>
              <a:t>Q5: For each library branch, retrieve the branch name and the total number of books loaned out from that branch</a:t>
            </a:r>
            <a:r>
              <a:rPr lang="en-US" dirty="0"/>
              <a:t>.</a:t>
            </a:r>
            <a:endParaRPr lang="en-IN" dirty="0"/>
          </a:p>
        </p:txBody>
      </p:sp>
      <p:pic>
        <p:nvPicPr>
          <p:cNvPr id="4" name="Picture 3">
            <a:extLst>
              <a:ext uri="{FF2B5EF4-FFF2-40B4-BE49-F238E27FC236}">
                <a16:creationId xmlns:a16="http://schemas.microsoft.com/office/drawing/2014/main" id="{6B874F1A-C3E6-9486-A9D0-20C4E49EF726}"/>
              </a:ext>
            </a:extLst>
          </p:cNvPr>
          <p:cNvPicPr>
            <a:picLocks noChangeAspect="1"/>
          </p:cNvPicPr>
          <p:nvPr/>
        </p:nvPicPr>
        <p:blipFill>
          <a:blip r:embed="rId2"/>
          <a:srcRect l="13862" t="28395" r="42963" b="59259"/>
          <a:stretch>
            <a:fillRect/>
          </a:stretch>
        </p:blipFill>
        <p:spPr>
          <a:xfrm>
            <a:off x="635000" y="1346199"/>
            <a:ext cx="6283449" cy="1397001"/>
          </a:xfrm>
          <a:prstGeom prst="rect">
            <a:avLst/>
          </a:prstGeom>
        </p:spPr>
      </p:pic>
      <p:pic>
        <p:nvPicPr>
          <p:cNvPr id="6" name="Picture 5">
            <a:extLst>
              <a:ext uri="{FF2B5EF4-FFF2-40B4-BE49-F238E27FC236}">
                <a16:creationId xmlns:a16="http://schemas.microsoft.com/office/drawing/2014/main" id="{DAB21D21-8CAE-689C-B9C0-4C238637F32F}"/>
              </a:ext>
            </a:extLst>
          </p:cNvPr>
          <p:cNvPicPr>
            <a:picLocks noChangeAspect="1"/>
          </p:cNvPicPr>
          <p:nvPr/>
        </p:nvPicPr>
        <p:blipFill>
          <a:blip r:embed="rId2"/>
          <a:srcRect l="10637" t="47901" r="72357" b="42346"/>
          <a:stretch>
            <a:fillRect/>
          </a:stretch>
        </p:blipFill>
        <p:spPr>
          <a:xfrm>
            <a:off x="7222066" y="1494843"/>
            <a:ext cx="3666068" cy="1248357"/>
          </a:xfrm>
          <a:prstGeom prst="rect">
            <a:avLst/>
          </a:prstGeom>
        </p:spPr>
      </p:pic>
      <p:sp>
        <p:nvSpPr>
          <p:cNvPr id="7" name="TextBox 6">
            <a:extLst>
              <a:ext uri="{FF2B5EF4-FFF2-40B4-BE49-F238E27FC236}">
                <a16:creationId xmlns:a16="http://schemas.microsoft.com/office/drawing/2014/main" id="{F080D3DC-B699-5D2B-1CDE-8506C86BE615}"/>
              </a:ext>
            </a:extLst>
          </p:cNvPr>
          <p:cNvSpPr txBox="1"/>
          <p:nvPr/>
        </p:nvSpPr>
        <p:spPr>
          <a:xfrm>
            <a:off x="7222066" y="1049868"/>
            <a:ext cx="1566335" cy="307777"/>
          </a:xfrm>
          <a:prstGeom prst="rect">
            <a:avLst/>
          </a:prstGeom>
          <a:noFill/>
        </p:spPr>
        <p:txBody>
          <a:bodyPr wrap="square" rtlCol="0">
            <a:spAutoFit/>
          </a:bodyPr>
          <a:lstStyle/>
          <a:p>
            <a:r>
              <a:rPr lang="en-IN" b="1" dirty="0"/>
              <a:t>Output</a:t>
            </a:r>
          </a:p>
        </p:txBody>
      </p:sp>
      <p:sp>
        <p:nvSpPr>
          <p:cNvPr id="8" name="TextBox 7">
            <a:extLst>
              <a:ext uri="{FF2B5EF4-FFF2-40B4-BE49-F238E27FC236}">
                <a16:creationId xmlns:a16="http://schemas.microsoft.com/office/drawing/2014/main" id="{7D9CD336-CD42-B307-F089-16299A1BD6A2}"/>
              </a:ext>
            </a:extLst>
          </p:cNvPr>
          <p:cNvSpPr txBox="1"/>
          <p:nvPr/>
        </p:nvSpPr>
        <p:spPr>
          <a:xfrm>
            <a:off x="635000" y="3429000"/>
            <a:ext cx="11099800" cy="2960875"/>
          </a:xfrm>
          <a:prstGeom prst="rect">
            <a:avLst/>
          </a:prstGeom>
          <a:noFill/>
        </p:spPr>
        <p:txBody>
          <a:bodyPr wrap="square" rtlCol="0">
            <a:spAutoFit/>
          </a:bodyPr>
          <a:lstStyle/>
          <a:p>
            <a:pPr algn="just">
              <a:lnSpc>
                <a:spcPct val="150000"/>
              </a:lnSpc>
            </a:pPr>
            <a:r>
              <a:rPr lang="en-US" b="1" dirty="0"/>
              <a:t>Observation:</a:t>
            </a:r>
            <a:r>
              <a:rPr lang="en-US" dirty="0"/>
              <a:t> </a:t>
            </a:r>
          </a:p>
          <a:p>
            <a:pPr algn="just">
              <a:lnSpc>
                <a:spcPct val="150000"/>
              </a:lnSpc>
            </a:pPr>
            <a:r>
              <a:rPr lang="en-US" dirty="0"/>
              <a:t>The query joins the </a:t>
            </a:r>
            <a:r>
              <a:rPr lang="en-US" dirty="0" err="1"/>
              <a:t>tbl_library_branch</a:t>
            </a:r>
            <a:r>
              <a:rPr lang="en-US" dirty="0"/>
              <a:t> and </a:t>
            </a:r>
            <a:r>
              <a:rPr lang="en-US" dirty="0" err="1"/>
              <a:t>tbl_book_loans</a:t>
            </a:r>
            <a:r>
              <a:rPr lang="en-US" dirty="0"/>
              <a:t> tables using the foreign key relationship between </a:t>
            </a:r>
            <a:r>
              <a:rPr lang="en-US" dirty="0" err="1"/>
              <a:t>BranchID</a:t>
            </a:r>
            <a:r>
              <a:rPr lang="en-US" dirty="0"/>
              <a:t>. It then groups the results by </a:t>
            </a:r>
            <a:r>
              <a:rPr lang="en-US" dirty="0" err="1"/>
              <a:t>library_branch_BranchName</a:t>
            </a:r>
            <a:r>
              <a:rPr lang="en-US" dirty="0"/>
              <a:t> and uses the COUNT() function to calculate the total number of books loaned out per branch.</a:t>
            </a:r>
          </a:p>
          <a:p>
            <a:pPr algn="just">
              <a:lnSpc>
                <a:spcPct val="150000"/>
              </a:lnSpc>
            </a:pPr>
            <a:r>
              <a:rPr lang="en-US" b="1" dirty="0"/>
              <a:t>Result:</a:t>
            </a:r>
          </a:p>
          <a:p>
            <a:pPr algn="just">
              <a:lnSpc>
                <a:spcPct val="150000"/>
              </a:lnSpc>
            </a:pPr>
            <a:r>
              <a:rPr lang="en-US" dirty="0"/>
              <a:t> The output shows:</a:t>
            </a:r>
          </a:p>
          <a:p>
            <a:pPr algn="just">
              <a:lnSpc>
                <a:spcPct val="150000"/>
              </a:lnSpc>
            </a:pPr>
            <a:r>
              <a:rPr lang="en-US" dirty="0"/>
              <a:t>Sharpstown → 10 books loaned , Central → 11 books loaned, Saline → 10 books loaned,  Ann Arbor → 10 books loaned</a:t>
            </a:r>
          </a:p>
          <a:p>
            <a:pPr algn="just">
              <a:lnSpc>
                <a:spcPct val="150000"/>
              </a:lnSpc>
            </a:pPr>
            <a:r>
              <a:rPr lang="en-US" b="1" dirty="0"/>
              <a:t>Insight:</a:t>
            </a:r>
            <a:r>
              <a:rPr lang="en-US" dirty="0"/>
              <a:t> </a:t>
            </a:r>
          </a:p>
          <a:p>
            <a:pPr algn="just">
              <a:lnSpc>
                <a:spcPct val="150000"/>
              </a:lnSpc>
            </a:pPr>
            <a:r>
              <a:rPr lang="en-US" dirty="0"/>
              <a:t>This analysis helps the library measure branch performance by identifying branches with higher borrowing activity, which can support better resource allocation and operational planning.</a:t>
            </a:r>
            <a:endParaRPr lang="en-IN" dirty="0"/>
          </a:p>
        </p:txBody>
      </p:sp>
      <p:sp>
        <p:nvSpPr>
          <p:cNvPr id="11" name="TextBox 10">
            <a:extLst>
              <a:ext uri="{FF2B5EF4-FFF2-40B4-BE49-F238E27FC236}">
                <a16:creationId xmlns:a16="http://schemas.microsoft.com/office/drawing/2014/main" id="{E1CC72C4-0B32-9154-EC34-660FB21F0834}"/>
              </a:ext>
            </a:extLst>
          </p:cNvPr>
          <p:cNvSpPr txBox="1"/>
          <p:nvPr/>
        </p:nvSpPr>
        <p:spPr>
          <a:xfrm>
            <a:off x="694267" y="1049869"/>
            <a:ext cx="2523066"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138183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D53CDD-C7CB-F389-B52E-35D4C797CBF1}"/>
              </a:ext>
            </a:extLst>
          </p:cNvPr>
          <p:cNvSpPr txBox="1"/>
          <p:nvPr/>
        </p:nvSpPr>
        <p:spPr>
          <a:xfrm>
            <a:off x="550334" y="423334"/>
            <a:ext cx="10828866" cy="1077218"/>
          </a:xfrm>
          <a:prstGeom prst="rect">
            <a:avLst/>
          </a:prstGeom>
          <a:noFill/>
        </p:spPr>
        <p:txBody>
          <a:bodyPr wrap="square" rtlCol="0">
            <a:spAutoFit/>
          </a:bodyPr>
          <a:lstStyle/>
          <a:p>
            <a:r>
              <a:rPr lang="en-US" sz="1600" b="1" dirty="0"/>
              <a:t>Q6: Retrieve the names, addresses, and number of books checked out for all borrowers who have more than five books checked out.</a:t>
            </a:r>
          </a:p>
          <a:p>
            <a:endParaRPr lang="en-US" sz="1600" b="1" dirty="0"/>
          </a:p>
          <a:p>
            <a:endParaRPr lang="en-IN" sz="1600" b="1" dirty="0"/>
          </a:p>
        </p:txBody>
      </p:sp>
      <p:pic>
        <p:nvPicPr>
          <p:cNvPr id="4" name="Picture 3">
            <a:extLst>
              <a:ext uri="{FF2B5EF4-FFF2-40B4-BE49-F238E27FC236}">
                <a16:creationId xmlns:a16="http://schemas.microsoft.com/office/drawing/2014/main" id="{232DD4E9-59A3-12DB-0E48-EA14EF78510E}"/>
              </a:ext>
            </a:extLst>
          </p:cNvPr>
          <p:cNvPicPr>
            <a:picLocks noChangeAspect="1"/>
          </p:cNvPicPr>
          <p:nvPr/>
        </p:nvPicPr>
        <p:blipFill>
          <a:blip r:embed="rId2"/>
          <a:srcRect l="14228" t="26543" r="36586" b="58025"/>
          <a:stretch>
            <a:fillRect/>
          </a:stretch>
        </p:blipFill>
        <p:spPr>
          <a:xfrm>
            <a:off x="609600" y="1500552"/>
            <a:ext cx="6671733" cy="1531202"/>
          </a:xfrm>
          <a:prstGeom prst="rect">
            <a:avLst/>
          </a:prstGeom>
        </p:spPr>
      </p:pic>
      <p:pic>
        <p:nvPicPr>
          <p:cNvPr id="6" name="Picture 5">
            <a:extLst>
              <a:ext uri="{FF2B5EF4-FFF2-40B4-BE49-F238E27FC236}">
                <a16:creationId xmlns:a16="http://schemas.microsoft.com/office/drawing/2014/main" id="{6C4F7F34-09DA-B155-110D-324158B17015}"/>
              </a:ext>
            </a:extLst>
          </p:cNvPr>
          <p:cNvPicPr>
            <a:picLocks noChangeAspect="1"/>
          </p:cNvPicPr>
          <p:nvPr/>
        </p:nvPicPr>
        <p:blipFill>
          <a:blip r:embed="rId2"/>
          <a:srcRect l="11048" t="47920" r="65603" b="45295"/>
          <a:stretch>
            <a:fillRect/>
          </a:stretch>
        </p:blipFill>
        <p:spPr>
          <a:xfrm>
            <a:off x="7340599" y="1776575"/>
            <a:ext cx="4694648" cy="979156"/>
          </a:xfrm>
          <a:prstGeom prst="rect">
            <a:avLst/>
          </a:prstGeom>
        </p:spPr>
      </p:pic>
      <p:sp>
        <p:nvSpPr>
          <p:cNvPr id="7" name="TextBox 6">
            <a:extLst>
              <a:ext uri="{FF2B5EF4-FFF2-40B4-BE49-F238E27FC236}">
                <a16:creationId xmlns:a16="http://schemas.microsoft.com/office/drawing/2014/main" id="{9DB1637C-1C5F-E524-50BD-18F8BAA77B46}"/>
              </a:ext>
            </a:extLst>
          </p:cNvPr>
          <p:cNvSpPr txBox="1"/>
          <p:nvPr/>
        </p:nvSpPr>
        <p:spPr>
          <a:xfrm>
            <a:off x="7467601" y="1202267"/>
            <a:ext cx="2819400" cy="307777"/>
          </a:xfrm>
          <a:prstGeom prst="rect">
            <a:avLst/>
          </a:prstGeom>
          <a:noFill/>
        </p:spPr>
        <p:txBody>
          <a:bodyPr wrap="square" rtlCol="0">
            <a:spAutoFit/>
          </a:bodyPr>
          <a:lstStyle/>
          <a:p>
            <a:r>
              <a:rPr lang="en-IN" b="1" dirty="0"/>
              <a:t>Output:</a:t>
            </a:r>
          </a:p>
        </p:txBody>
      </p:sp>
      <p:sp>
        <p:nvSpPr>
          <p:cNvPr id="8" name="TextBox 7">
            <a:extLst>
              <a:ext uri="{FF2B5EF4-FFF2-40B4-BE49-F238E27FC236}">
                <a16:creationId xmlns:a16="http://schemas.microsoft.com/office/drawing/2014/main" id="{30CA091C-074D-3E6A-9BAB-82DA9483D955}"/>
              </a:ext>
            </a:extLst>
          </p:cNvPr>
          <p:cNvSpPr txBox="1"/>
          <p:nvPr/>
        </p:nvSpPr>
        <p:spPr>
          <a:xfrm>
            <a:off x="609600" y="3031754"/>
            <a:ext cx="10769599" cy="3607206"/>
          </a:xfrm>
          <a:prstGeom prst="rect">
            <a:avLst/>
          </a:prstGeom>
          <a:noFill/>
        </p:spPr>
        <p:txBody>
          <a:bodyPr wrap="square" rtlCol="0">
            <a:spAutoFit/>
          </a:bodyPr>
          <a:lstStyle/>
          <a:p>
            <a:pPr algn="just">
              <a:lnSpc>
                <a:spcPct val="150000"/>
              </a:lnSpc>
            </a:pPr>
            <a:r>
              <a:rPr lang="en-US" b="1" dirty="0"/>
              <a:t>Observation:</a:t>
            </a:r>
            <a:r>
              <a:rPr lang="en-US" dirty="0"/>
              <a:t> </a:t>
            </a:r>
          </a:p>
          <a:p>
            <a:pPr algn="just">
              <a:lnSpc>
                <a:spcPct val="150000"/>
              </a:lnSpc>
            </a:pPr>
            <a:r>
              <a:rPr lang="en-US" dirty="0"/>
              <a:t>Joined </a:t>
            </a:r>
            <a:r>
              <a:rPr lang="en-US" dirty="0" err="1"/>
              <a:t>tbl_borrower</a:t>
            </a:r>
            <a:r>
              <a:rPr lang="en-US" dirty="0"/>
              <a:t> and </a:t>
            </a:r>
            <a:r>
              <a:rPr lang="en-US" dirty="0" err="1"/>
              <a:t>tbl_book_loans</a:t>
            </a:r>
            <a:r>
              <a:rPr lang="en-US" dirty="0"/>
              <a:t> using </a:t>
            </a:r>
            <a:r>
              <a:rPr lang="en-US" dirty="0" err="1"/>
              <a:t>CardNo</a:t>
            </a:r>
            <a:r>
              <a:rPr lang="en-US" dirty="0"/>
              <a:t>, grouped by borrower details, and filtered with HAVING </a:t>
            </a:r>
            <a:r>
              <a:rPr lang="en-US" dirty="0" err="1"/>
              <a:t>no_of_books</a:t>
            </a:r>
            <a:r>
              <a:rPr lang="en-US" dirty="0"/>
              <a:t> &gt; 5 to find heavy borrowers.</a:t>
            </a:r>
          </a:p>
          <a:p>
            <a:pPr algn="just">
              <a:lnSpc>
                <a:spcPct val="150000"/>
              </a:lnSpc>
            </a:pPr>
            <a:r>
              <a:rPr lang="en-US" b="1" dirty="0"/>
              <a:t>Result:</a:t>
            </a:r>
            <a:endParaRPr lang="en-US" dirty="0"/>
          </a:p>
          <a:p>
            <a:pPr algn="just">
              <a:lnSpc>
                <a:spcPct val="150000"/>
              </a:lnSpc>
            </a:pPr>
            <a:r>
              <a:rPr lang="en-US" dirty="0"/>
              <a:t>Joe Smith – 7 books</a:t>
            </a:r>
          </a:p>
          <a:p>
            <a:pPr algn="just">
              <a:lnSpc>
                <a:spcPct val="150000"/>
              </a:lnSpc>
            </a:pPr>
            <a:r>
              <a:rPr lang="en-US" dirty="0"/>
              <a:t>Tom Li – 13 books</a:t>
            </a:r>
          </a:p>
          <a:p>
            <a:pPr algn="just">
              <a:lnSpc>
                <a:spcPct val="150000"/>
              </a:lnSpc>
            </a:pPr>
            <a:r>
              <a:rPr lang="en-US" dirty="0"/>
              <a:t>Tom Haverford – 6 books</a:t>
            </a:r>
          </a:p>
          <a:p>
            <a:pPr algn="just">
              <a:lnSpc>
                <a:spcPct val="150000"/>
              </a:lnSpc>
            </a:pPr>
            <a:r>
              <a:rPr lang="en-US" b="1" dirty="0"/>
              <a:t>Insight:</a:t>
            </a:r>
          </a:p>
          <a:p>
            <a:pPr algn="just">
              <a:lnSpc>
                <a:spcPct val="150000"/>
              </a:lnSpc>
            </a:pPr>
            <a:r>
              <a:rPr lang="en-US" dirty="0"/>
              <a:t> This query helps identify frequent library users and provides valuable information about borrowing behavior, which can help the library create loyalty programs or better understand reader preferences.</a:t>
            </a:r>
          </a:p>
          <a:p>
            <a:pPr algn="just">
              <a:lnSpc>
                <a:spcPct val="150000"/>
              </a:lnSpc>
            </a:pPr>
            <a:endParaRPr lang="en-IN" dirty="0"/>
          </a:p>
        </p:txBody>
      </p:sp>
      <p:sp>
        <p:nvSpPr>
          <p:cNvPr id="9" name="TextBox 8">
            <a:extLst>
              <a:ext uri="{FF2B5EF4-FFF2-40B4-BE49-F238E27FC236}">
                <a16:creationId xmlns:a16="http://schemas.microsoft.com/office/drawing/2014/main" id="{B3B8D8D3-A6E0-AEC8-A893-428C5014B7EA}"/>
              </a:ext>
            </a:extLst>
          </p:cNvPr>
          <p:cNvSpPr txBox="1"/>
          <p:nvPr/>
        </p:nvSpPr>
        <p:spPr>
          <a:xfrm>
            <a:off x="609600" y="1143000"/>
            <a:ext cx="812801"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3732462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07C41E-0A15-6867-F322-9BB485CD84F4}"/>
              </a:ext>
            </a:extLst>
          </p:cNvPr>
          <p:cNvSpPr txBox="1"/>
          <p:nvPr/>
        </p:nvSpPr>
        <p:spPr>
          <a:xfrm>
            <a:off x="524934" y="414867"/>
            <a:ext cx="10947400" cy="523220"/>
          </a:xfrm>
          <a:prstGeom prst="rect">
            <a:avLst/>
          </a:prstGeom>
          <a:noFill/>
        </p:spPr>
        <p:txBody>
          <a:bodyPr wrap="square" rtlCol="0">
            <a:spAutoFit/>
          </a:bodyPr>
          <a:lstStyle/>
          <a:p>
            <a:r>
              <a:rPr lang="en-US" b="1" dirty="0"/>
              <a:t>Q7: For each book authored by "Stephen King", retrieve the title and the number of copies owned by the library branch whose name is "Central".</a:t>
            </a:r>
            <a:endParaRPr lang="en-IN" b="1" dirty="0"/>
          </a:p>
        </p:txBody>
      </p:sp>
      <p:pic>
        <p:nvPicPr>
          <p:cNvPr id="4" name="Picture 3">
            <a:extLst>
              <a:ext uri="{FF2B5EF4-FFF2-40B4-BE49-F238E27FC236}">
                <a16:creationId xmlns:a16="http://schemas.microsoft.com/office/drawing/2014/main" id="{E0B98EB6-DC16-8E72-D45E-E283E682C9F5}"/>
              </a:ext>
            </a:extLst>
          </p:cNvPr>
          <p:cNvPicPr>
            <a:picLocks noChangeAspect="1"/>
          </p:cNvPicPr>
          <p:nvPr/>
        </p:nvPicPr>
        <p:blipFill>
          <a:blip r:embed="rId2"/>
          <a:srcRect l="14008" t="21605" r="58504" b="56543"/>
          <a:stretch>
            <a:fillRect/>
          </a:stretch>
        </p:blipFill>
        <p:spPr>
          <a:xfrm>
            <a:off x="584200" y="1461307"/>
            <a:ext cx="5427133" cy="2450293"/>
          </a:xfrm>
          <a:prstGeom prst="rect">
            <a:avLst/>
          </a:prstGeom>
        </p:spPr>
      </p:pic>
      <p:pic>
        <p:nvPicPr>
          <p:cNvPr id="6" name="Picture 5">
            <a:extLst>
              <a:ext uri="{FF2B5EF4-FFF2-40B4-BE49-F238E27FC236}">
                <a16:creationId xmlns:a16="http://schemas.microsoft.com/office/drawing/2014/main" id="{322EA0F4-9DF1-BE54-8DEF-CCB2077E998F}"/>
              </a:ext>
            </a:extLst>
          </p:cNvPr>
          <p:cNvPicPr>
            <a:picLocks noChangeAspect="1"/>
          </p:cNvPicPr>
          <p:nvPr/>
        </p:nvPicPr>
        <p:blipFill>
          <a:blip r:embed="rId2"/>
          <a:srcRect l="10858" t="47654" r="78367" b="46173"/>
          <a:stretch>
            <a:fillRect/>
          </a:stretch>
        </p:blipFill>
        <p:spPr>
          <a:xfrm>
            <a:off x="6832601" y="1744132"/>
            <a:ext cx="3534662" cy="1202268"/>
          </a:xfrm>
          <a:prstGeom prst="rect">
            <a:avLst/>
          </a:prstGeom>
        </p:spPr>
      </p:pic>
      <p:sp>
        <p:nvSpPr>
          <p:cNvPr id="7" name="TextBox 6">
            <a:extLst>
              <a:ext uri="{FF2B5EF4-FFF2-40B4-BE49-F238E27FC236}">
                <a16:creationId xmlns:a16="http://schemas.microsoft.com/office/drawing/2014/main" id="{F7E9838C-F806-8553-DEAD-887DCE5D3625}"/>
              </a:ext>
            </a:extLst>
          </p:cNvPr>
          <p:cNvSpPr txBox="1"/>
          <p:nvPr/>
        </p:nvSpPr>
        <p:spPr>
          <a:xfrm>
            <a:off x="6959600" y="1075267"/>
            <a:ext cx="787400" cy="307777"/>
          </a:xfrm>
          <a:prstGeom prst="rect">
            <a:avLst/>
          </a:prstGeom>
          <a:noFill/>
        </p:spPr>
        <p:txBody>
          <a:bodyPr wrap="square" rtlCol="0">
            <a:spAutoFit/>
          </a:bodyPr>
          <a:lstStyle/>
          <a:p>
            <a:r>
              <a:rPr lang="en-IN" b="1" dirty="0"/>
              <a:t>Output</a:t>
            </a:r>
            <a:endParaRPr lang="en-IN" dirty="0"/>
          </a:p>
        </p:txBody>
      </p:sp>
      <p:sp>
        <p:nvSpPr>
          <p:cNvPr id="8" name="TextBox 7">
            <a:extLst>
              <a:ext uri="{FF2B5EF4-FFF2-40B4-BE49-F238E27FC236}">
                <a16:creationId xmlns:a16="http://schemas.microsoft.com/office/drawing/2014/main" id="{FA6356C4-D157-4E19-A731-5888E52761C0}"/>
              </a:ext>
            </a:extLst>
          </p:cNvPr>
          <p:cNvSpPr txBox="1"/>
          <p:nvPr/>
        </p:nvSpPr>
        <p:spPr>
          <a:xfrm>
            <a:off x="584200" y="3911600"/>
            <a:ext cx="10947400" cy="2462213"/>
          </a:xfrm>
          <a:prstGeom prst="rect">
            <a:avLst/>
          </a:prstGeom>
          <a:noFill/>
        </p:spPr>
        <p:txBody>
          <a:bodyPr wrap="square" rtlCol="0">
            <a:spAutoFit/>
          </a:bodyPr>
          <a:lstStyle/>
          <a:p>
            <a:pPr algn="just">
              <a:lnSpc>
                <a:spcPct val="150000"/>
              </a:lnSpc>
            </a:pPr>
            <a:r>
              <a:rPr lang="en-US" b="1" dirty="0"/>
              <a:t>Observation:</a:t>
            </a:r>
            <a:r>
              <a:rPr lang="en-US" dirty="0"/>
              <a:t> Joined </a:t>
            </a:r>
            <a:r>
              <a:rPr lang="en-US" dirty="0" err="1"/>
              <a:t>tbl_book_authors</a:t>
            </a:r>
            <a:r>
              <a:rPr lang="en-US" dirty="0"/>
              <a:t>, </a:t>
            </a:r>
            <a:r>
              <a:rPr lang="en-US" dirty="0" err="1"/>
              <a:t>tbl_book</a:t>
            </a:r>
            <a:r>
              <a:rPr lang="en-US" dirty="0"/>
              <a:t>, </a:t>
            </a:r>
            <a:r>
              <a:rPr lang="en-US" dirty="0" err="1"/>
              <a:t>tbl_book_copies</a:t>
            </a:r>
            <a:r>
              <a:rPr lang="en-US" dirty="0"/>
              <a:t>, and </a:t>
            </a:r>
            <a:r>
              <a:rPr lang="en-US" dirty="0" err="1"/>
              <a:t>tbl_library_branch</a:t>
            </a:r>
            <a:r>
              <a:rPr lang="en-US" dirty="0"/>
              <a:t> using their foreign key relationships. Filtered by author name Stephen King and branch name Central, then grouped by book title to sum the total copies.</a:t>
            </a:r>
          </a:p>
          <a:p>
            <a:pPr algn="just">
              <a:lnSpc>
                <a:spcPct val="150000"/>
              </a:lnSpc>
            </a:pPr>
            <a:r>
              <a:rPr lang="en-US" b="1" dirty="0"/>
              <a:t>Result:</a:t>
            </a:r>
            <a:endParaRPr lang="en-US" dirty="0"/>
          </a:p>
          <a:p>
            <a:pPr algn="just">
              <a:lnSpc>
                <a:spcPct val="150000"/>
              </a:lnSpc>
            </a:pPr>
            <a:r>
              <a:rPr lang="en-US" dirty="0"/>
              <a:t>It – 5 copies</a:t>
            </a:r>
          </a:p>
          <a:p>
            <a:pPr algn="just">
              <a:lnSpc>
                <a:spcPct val="150000"/>
              </a:lnSpc>
            </a:pPr>
            <a:r>
              <a:rPr lang="en-US" dirty="0"/>
              <a:t>The Green Mile – 5 copies</a:t>
            </a:r>
          </a:p>
          <a:p>
            <a:pPr algn="just">
              <a:lnSpc>
                <a:spcPct val="150000"/>
              </a:lnSpc>
            </a:pPr>
            <a:r>
              <a:rPr lang="en-US" b="1" dirty="0"/>
              <a:t>Insight:</a:t>
            </a:r>
            <a:r>
              <a:rPr lang="en-US" dirty="0"/>
              <a:t> </a:t>
            </a:r>
          </a:p>
          <a:p>
            <a:r>
              <a:rPr lang="en-US" dirty="0"/>
              <a:t>This analysis helps the library track the availability of books by a specific author and supports inventory management by ensuring that popular authors like Stephen King are adequately stocked in the Central branch.</a:t>
            </a:r>
          </a:p>
        </p:txBody>
      </p:sp>
      <p:sp>
        <p:nvSpPr>
          <p:cNvPr id="9" name="TextBox 8">
            <a:extLst>
              <a:ext uri="{FF2B5EF4-FFF2-40B4-BE49-F238E27FC236}">
                <a16:creationId xmlns:a16="http://schemas.microsoft.com/office/drawing/2014/main" id="{E2F3FF0A-B0E1-0A6B-3ADF-7343B6AE0C33}"/>
              </a:ext>
            </a:extLst>
          </p:cNvPr>
          <p:cNvSpPr txBox="1"/>
          <p:nvPr/>
        </p:nvSpPr>
        <p:spPr>
          <a:xfrm>
            <a:off x="584200" y="1075267"/>
            <a:ext cx="4902201" cy="307777"/>
          </a:xfrm>
          <a:prstGeom prst="rect">
            <a:avLst/>
          </a:prstGeom>
          <a:noFill/>
        </p:spPr>
        <p:txBody>
          <a:bodyPr wrap="square" rtlCol="0">
            <a:spAutoFit/>
          </a:bodyPr>
          <a:lstStyle/>
          <a:p>
            <a:r>
              <a:rPr lang="en-IN" b="1" dirty="0"/>
              <a:t>Query</a:t>
            </a:r>
          </a:p>
        </p:txBody>
      </p:sp>
    </p:spTree>
    <p:extLst>
      <p:ext uri="{BB962C8B-B14F-4D97-AF65-F5344CB8AC3E}">
        <p14:creationId xmlns:p14="http://schemas.microsoft.com/office/powerpoint/2010/main" val="2597966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FEB9-585C-4405-568D-B041F3DD9FE8}"/>
              </a:ext>
            </a:extLst>
          </p:cNvPr>
          <p:cNvSpPr>
            <a:spLocks noGrp="1"/>
          </p:cNvSpPr>
          <p:nvPr>
            <p:ph type="title"/>
          </p:nvPr>
        </p:nvSpPr>
        <p:spPr>
          <a:xfrm>
            <a:off x="279400" y="270933"/>
            <a:ext cx="11074400" cy="1419755"/>
          </a:xfrm>
        </p:spPr>
        <p:txBody>
          <a:bodyPr/>
          <a:lstStyle/>
          <a:p>
            <a:r>
              <a:rPr lang="en-US" altLang="en-US" sz="3600" b="1" dirty="0">
                <a:solidFill>
                  <a:srgbClr val="FF0000"/>
                </a:solidFill>
                <a:latin typeface="Times New Roman" panose="02020603050405020304" pitchFamily="18" charset="0"/>
                <a:cs typeface="Times New Roman" panose="02020603050405020304" pitchFamily="18" charset="0"/>
              </a:rPr>
              <a:t>Conclusion</a:t>
            </a:r>
            <a:br>
              <a:rPr lang="en-US" altLang="en-US"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7" name="Rectangle 4">
            <a:extLst>
              <a:ext uri="{FF2B5EF4-FFF2-40B4-BE49-F238E27FC236}">
                <a16:creationId xmlns:a16="http://schemas.microsoft.com/office/drawing/2014/main" id="{9B500138-05D5-909A-B3AC-21BE2C8D564E}"/>
              </a:ext>
            </a:extLst>
          </p:cNvPr>
          <p:cNvSpPr>
            <a:spLocks noGrp="1" noChangeArrowheads="1"/>
          </p:cNvSpPr>
          <p:nvPr>
            <p:ph type="body" idx="1"/>
          </p:nvPr>
        </p:nvSpPr>
        <p:spPr bwMode="auto">
          <a:xfrm>
            <a:off x="279400" y="1629926"/>
            <a:ext cx="1000759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lang="en-US" sz="2000" dirty="0"/>
              <a:t>The analysis helps track </a:t>
            </a:r>
            <a:r>
              <a:rPr lang="en-US" sz="2000" b="1" dirty="0"/>
              <a:t>book availability </a:t>
            </a:r>
            <a:r>
              <a:rPr lang="en-US" sz="2000" dirty="0"/>
              <a:t>across different library branches. </a:t>
            </a:r>
          </a:p>
          <a:p>
            <a:pPr marL="0" lvl="0" indent="0" eaLnBrk="0" fontAlgn="base" hangingPunct="0">
              <a:lnSpc>
                <a:spcPct val="150000"/>
              </a:lnSpc>
              <a:spcBef>
                <a:spcPct val="0"/>
              </a:spcBef>
              <a:spcAft>
                <a:spcPct val="0"/>
              </a:spcAft>
              <a:buClrTx/>
              <a:buSzTx/>
              <a:buFontTx/>
              <a:buChar char="•"/>
            </a:pPr>
            <a:r>
              <a:rPr lang="en-US" sz="2000" dirty="0"/>
              <a:t>It identifies active and </a:t>
            </a:r>
            <a:r>
              <a:rPr lang="en-US" sz="2000" b="1" dirty="0"/>
              <a:t>inactive borrowers </a:t>
            </a:r>
            <a:r>
              <a:rPr lang="en-US" sz="2000" dirty="0"/>
              <a:t>within the library system. </a:t>
            </a:r>
          </a:p>
          <a:p>
            <a:pPr marL="0" lvl="0" indent="0" eaLnBrk="0" fontAlgn="base" hangingPunct="0">
              <a:lnSpc>
                <a:spcPct val="150000"/>
              </a:lnSpc>
              <a:spcBef>
                <a:spcPct val="0"/>
              </a:spcBef>
              <a:spcAft>
                <a:spcPct val="0"/>
              </a:spcAft>
              <a:buClrTx/>
              <a:buSzTx/>
              <a:buFontTx/>
              <a:buChar char="•"/>
            </a:pPr>
            <a:r>
              <a:rPr lang="en-US" sz="2000" dirty="0"/>
              <a:t>The queries support efficient monitoring of </a:t>
            </a:r>
            <a:r>
              <a:rPr lang="en-US" sz="2000" b="1" dirty="0"/>
              <a:t>due dates and borrowed books</a:t>
            </a:r>
            <a:r>
              <a:rPr lang="en-US" sz="2000" dirty="0"/>
              <a:t>. </a:t>
            </a:r>
          </a:p>
          <a:p>
            <a:pPr marL="0" lvl="0" indent="0" eaLnBrk="0" fontAlgn="base" hangingPunct="0">
              <a:lnSpc>
                <a:spcPct val="150000"/>
              </a:lnSpc>
              <a:spcBef>
                <a:spcPct val="0"/>
              </a:spcBef>
              <a:spcAft>
                <a:spcPct val="0"/>
              </a:spcAft>
              <a:buClrTx/>
              <a:buSzTx/>
              <a:buFontTx/>
              <a:buChar char="•"/>
            </a:pPr>
            <a:r>
              <a:rPr lang="en-US" sz="2000" dirty="0"/>
              <a:t>Branch-wise loan analysis helps measure </a:t>
            </a:r>
            <a:r>
              <a:rPr lang="en-US" sz="2000" b="1" dirty="0"/>
              <a:t>library branch performance</a:t>
            </a:r>
            <a:r>
              <a:rPr lang="en-US" sz="2000" dirty="0"/>
              <a:t>. </a:t>
            </a:r>
          </a:p>
          <a:p>
            <a:pPr marL="0" lvl="0" indent="0" eaLnBrk="0" fontAlgn="base" hangingPunct="0">
              <a:lnSpc>
                <a:spcPct val="150000"/>
              </a:lnSpc>
              <a:spcBef>
                <a:spcPct val="0"/>
              </a:spcBef>
              <a:spcAft>
                <a:spcPct val="0"/>
              </a:spcAft>
              <a:buClrTx/>
              <a:buSzTx/>
              <a:buFontTx/>
              <a:buChar char="•"/>
            </a:pPr>
            <a:r>
              <a:rPr lang="en-US" sz="2000" dirty="0"/>
              <a:t>Borrower activity analysis helps understand reader </a:t>
            </a:r>
            <a:r>
              <a:rPr lang="en-US" sz="2000" b="1" dirty="0"/>
              <a:t>behavior</a:t>
            </a:r>
            <a:r>
              <a:rPr lang="en-US" sz="2000" dirty="0"/>
              <a:t> and engagement. </a:t>
            </a:r>
          </a:p>
          <a:p>
            <a:pPr marL="0" lvl="0" indent="0" eaLnBrk="0" fontAlgn="base" hangingPunct="0">
              <a:lnSpc>
                <a:spcPct val="150000"/>
              </a:lnSpc>
              <a:spcBef>
                <a:spcPct val="0"/>
              </a:spcBef>
              <a:spcAft>
                <a:spcPct val="0"/>
              </a:spcAft>
              <a:buClrTx/>
              <a:buSzTx/>
              <a:buFontTx/>
              <a:buChar char="•"/>
            </a:pPr>
            <a:r>
              <a:rPr lang="en-US" sz="2000" dirty="0"/>
              <a:t>Author-wise and branch-wise inventory tracking </a:t>
            </a:r>
            <a:r>
              <a:rPr lang="en-US" sz="2000" b="1" dirty="0"/>
              <a:t>improves stock management. </a:t>
            </a:r>
          </a:p>
          <a:p>
            <a:pPr marL="0" lvl="0" indent="0" eaLnBrk="0" fontAlgn="base" hangingPunct="0">
              <a:lnSpc>
                <a:spcPct val="150000"/>
              </a:lnSpc>
              <a:spcBef>
                <a:spcPct val="0"/>
              </a:spcBef>
              <a:spcAft>
                <a:spcPct val="0"/>
              </a:spcAft>
              <a:buClrTx/>
              <a:buSzTx/>
              <a:buFontTx/>
              <a:buChar char="•"/>
            </a:pPr>
            <a:r>
              <a:rPr lang="en-US" sz="2000" dirty="0"/>
              <a:t>The overall analysis supports better </a:t>
            </a:r>
            <a:r>
              <a:rPr lang="en-US" sz="2000" b="1" dirty="0"/>
              <a:t>decision-making and efficient library operations</a:t>
            </a:r>
            <a:r>
              <a:rPr lang="en-US" sz="2000"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368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07EC91-D2CD-D1CF-F20A-46CEC127CB55}"/>
              </a:ext>
            </a:extLst>
          </p:cNvPr>
          <p:cNvSpPr txBox="1"/>
          <p:nvPr/>
        </p:nvSpPr>
        <p:spPr>
          <a:xfrm flipH="1">
            <a:off x="3953933" y="2413337"/>
            <a:ext cx="2497666" cy="1311449"/>
          </a:xfrm>
          <a:prstGeom prst="rect">
            <a:avLst/>
          </a:prstGeom>
          <a:noFill/>
        </p:spPr>
        <p:txBody>
          <a:bodyPr wrap="square" rtlCol="0">
            <a:spAutoFit/>
          </a:bodyPr>
          <a:lstStyle/>
          <a:p>
            <a:pPr lvl="0" eaLnBrk="0" fontAlgn="base" hangingPunct="0">
              <a:lnSpc>
                <a:spcPct val="150000"/>
              </a:lnSpc>
              <a:spcBef>
                <a:spcPct val="0"/>
              </a:spcBef>
              <a:spcAft>
                <a:spcPct val="0"/>
              </a:spcAft>
              <a:buClrTx/>
            </a:pPr>
            <a:r>
              <a:rPr lang="en-US" altLang="en-US" sz="6000" dirty="0">
                <a:solidFill>
                  <a:schemeClr val="tx1"/>
                </a:solidFill>
                <a:latin typeface="Times New Roman" panose="02020603050405020304" pitchFamily="18" charset="0"/>
                <a:cs typeface="Times New Roman" panose="02020603050405020304" pitchFamily="18" charset="0"/>
              </a:rPr>
              <a:t>   </a:t>
            </a:r>
            <a:r>
              <a:rPr lang="en-US" altLang="en-US" sz="6000" dirty="0">
                <a:solidFill>
                  <a:srgbClr val="FF0000"/>
                </a:solidFill>
                <a:latin typeface="Times New Roman" panose="02020603050405020304" pitchFamily="18" charset="0"/>
                <a:cs typeface="Times New Roman" panose="02020603050405020304" pitchFamily="18" charset="0"/>
              </a:rPr>
              <a:t>Q&amp;A</a:t>
            </a:r>
          </a:p>
        </p:txBody>
      </p:sp>
    </p:spTree>
    <p:extLst>
      <p:ext uri="{BB962C8B-B14F-4D97-AF65-F5344CB8AC3E}">
        <p14:creationId xmlns:p14="http://schemas.microsoft.com/office/powerpoint/2010/main" val="3836209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7AD62-B4AE-8406-0C8A-394EA52A5C67}"/>
              </a:ext>
            </a:extLst>
          </p:cNvPr>
          <p:cNvSpPr>
            <a:spLocks noGrp="1"/>
          </p:cNvSpPr>
          <p:nvPr>
            <p:ph type="title"/>
          </p:nvPr>
        </p:nvSpPr>
        <p:spPr/>
        <p:txBody>
          <a:bodyPr/>
          <a:lstStyle/>
          <a:p>
            <a:r>
              <a:rPr lang="en-IN" b="1" dirty="0">
                <a:solidFill>
                  <a:srgbClr val="FF0000"/>
                </a:solidFill>
              </a:rPr>
              <a:t>Experiences &amp; Challenges</a:t>
            </a:r>
            <a:endParaRPr lang="en-IN" dirty="0">
              <a:solidFill>
                <a:srgbClr val="FF0000"/>
              </a:solidFill>
            </a:endParaRPr>
          </a:p>
        </p:txBody>
      </p:sp>
      <p:sp>
        <p:nvSpPr>
          <p:cNvPr id="4" name="Rectangle 1">
            <a:extLst>
              <a:ext uri="{FF2B5EF4-FFF2-40B4-BE49-F238E27FC236}">
                <a16:creationId xmlns:a16="http://schemas.microsoft.com/office/drawing/2014/main" id="{BC963E9E-D580-78AF-73C3-9E3CA0F31287}"/>
              </a:ext>
            </a:extLst>
          </p:cNvPr>
          <p:cNvSpPr>
            <a:spLocks noGrp="1" noChangeArrowheads="1"/>
          </p:cNvSpPr>
          <p:nvPr>
            <p:ph type="body" idx="1"/>
          </p:nvPr>
        </p:nvSpPr>
        <p:spPr bwMode="auto">
          <a:xfrm>
            <a:off x="263675" y="1034492"/>
            <a:ext cx="9233910"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None/>
            </a:pPr>
            <a:r>
              <a:rPr lang="en-IN" sz="2400" b="1" dirty="0">
                <a:solidFill>
                  <a:srgbClr val="FF0000"/>
                </a:solidFill>
              </a:rPr>
              <a:t>Challenges Faced:</a:t>
            </a:r>
            <a:endParaRPr kumimoji="0" lang="en-US" altLang="en-US" sz="2400" b="1" i="0" u="none" strike="noStrike" cap="none" normalizeH="0" baseline="0" dirty="0">
              <a:ln>
                <a:noFill/>
              </a:ln>
              <a:solidFill>
                <a:srgbClr val="FF0000"/>
              </a:solidFill>
              <a:effectLst/>
              <a:latin typeface="Arial" panose="020B0604020202020204" pitchFamily="34" charset="0"/>
            </a:endParaRPr>
          </a:p>
          <a:p>
            <a:pPr marL="0" lvl="0" indent="0" eaLnBrk="0" fontAlgn="base" hangingPunct="0">
              <a:lnSpc>
                <a:spcPct val="150000"/>
              </a:lnSpc>
              <a:spcBef>
                <a:spcPct val="0"/>
              </a:spcBef>
              <a:spcAft>
                <a:spcPct val="0"/>
              </a:spcAft>
              <a:buClrTx/>
              <a:buSzTx/>
              <a:buFontTx/>
              <a:buChar char="•"/>
            </a:pPr>
            <a:r>
              <a:rPr lang="en-US" sz="1800" dirty="0"/>
              <a:t>Designing proper table relationships and maintaining data integrity </a:t>
            </a:r>
          </a:p>
          <a:p>
            <a:pPr marL="0" lvl="0" indent="0" eaLnBrk="0" fontAlgn="base" hangingPunct="0">
              <a:lnSpc>
                <a:spcPct val="150000"/>
              </a:lnSpc>
              <a:spcBef>
                <a:spcPct val="0"/>
              </a:spcBef>
              <a:spcAft>
                <a:spcPct val="0"/>
              </a:spcAft>
              <a:buClrTx/>
              <a:buSzTx/>
              <a:buFontTx/>
              <a:buChar char="•"/>
            </a:pPr>
            <a:r>
              <a:rPr lang="en-US" sz="1800" dirty="0"/>
              <a:t>  using foreign keys</a:t>
            </a:r>
          </a:p>
          <a:p>
            <a:pPr marL="0" lvl="0" indent="0" eaLnBrk="0" fontAlgn="base" hangingPunct="0">
              <a:lnSpc>
                <a:spcPct val="150000"/>
              </a:lnSpc>
              <a:spcBef>
                <a:spcPct val="0"/>
              </a:spcBef>
              <a:spcAft>
                <a:spcPct val="0"/>
              </a:spcAft>
              <a:buClrTx/>
              <a:buSzTx/>
              <a:buFontTx/>
              <a:buChar char="•"/>
            </a:pPr>
            <a:r>
              <a:rPr lang="en-US" sz="1800" dirty="0"/>
              <a:t>Improved </a:t>
            </a:r>
            <a:r>
              <a:rPr lang="en-US" sz="1800" b="1" dirty="0"/>
              <a:t>understanding of table relationships, joins, aggregation functions, and data filtering </a:t>
            </a:r>
            <a:r>
              <a:rPr lang="en-US" sz="1800" dirty="0"/>
              <a:t>techniques through hands-on implementation. </a:t>
            </a:r>
          </a:p>
          <a:p>
            <a:pPr marL="0" lvl="0" indent="0" eaLnBrk="0" fontAlgn="base" hangingPunct="0">
              <a:lnSpc>
                <a:spcPct val="150000"/>
              </a:lnSpc>
              <a:spcBef>
                <a:spcPct val="0"/>
              </a:spcBef>
              <a:spcAft>
                <a:spcPct val="0"/>
              </a:spcAft>
              <a:buClrTx/>
              <a:buSzTx/>
              <a:buFontTx/>
              <a:buChar char="•"/>
            </a:pPr>
            <a:r>
              <a:rPr lang="en-US" sz="1800" b="1" dirty="0"/>
              <a:t>Handling data </a:t>
            </a:r>
            <a:r>
              <a:rPr lang="en-US" sz="1800" dirty="0"/>
              <a:t>inconsistencies and </a:t>
            </a:r>
            <a:r>
              <a:rPr lang="en-US" sz="1800" b="1" dirty="0"/>
              <a:t>missing values </a:t>
            </a:r>
            <a:r>
              <a:rPr lang="en-US" sz="1800" dirty="0"/>
              <a:t>during CSV import</a:t>
            </a:r>
          </a:p>
          <a:p>
            <a:pPr marL="0" lvl="0" indent="0" eaLnBrk="0" fontAlgn="base" hangingPunct="0">
              <a:lnSpc>
                <a:spcPct val="150000"/>
              </a:lnSpc>
              <a:spcBef>
                <a:spcPct val="0"/>
              </a:spcBef>
              <a:spcAft>
                <a:spcPct val="0"/>
              </a:spcAft>
              <a:buClrTx/>
              <a:buSzTx/>
              <a:buFontTx/>
              <a:buChar char="•"/>
            </a:pPr>
            <a:r>
              <a:rPr lang="en-US" sz="1800" dirty="0"/>
              <a:t>Faced challenges in managing multiple table joins and maintaining query accuracy while retrieving meaningful insights. </a:t>
            </a:r>
          </a:p>
          <a:p>
            <a:pPr marL="0" lvl="0" indent="0" eaLnBrk="0" fontAlgn="base" hangingPunct="0">
              <a:lnSpc>
                <a:spcPct val="150000"/>
              </a:lnSpc>
              <a:spcBef>
                <a:spcPct val="0"/>
              </a:spcBef>
              <a:spcAft>
                <a:spcPct val="0"/>
              </a:spcAft>
              <a:buClrTx/>
              <a:buSzTx/>
              <a:buFontTx/>
              <a:buChar char="•"/>
            </a:pPr>
            <a:r>
              <a:rPr lang="en-US" sz="1800" dirty="0"/>
              <a:t>Enhanced problem-solving abilities by identifying efficient ways to analyze borrower activity, book availability, and branch performance.</a:t>
            </a:r>
          </a:p>
          <a:p>
            <a:pPr marL="0" lvl="0" indent="0" eaLnBrk="0" fontAlgn="base" hangingPunct="0">
              <a:lnSpc>
                <a:spcPct val="150000"/>
              </a:lnSpc>
              <a:spcBef>
                <a:spcPct val="0"/>
              </a:spcBef>
              <a:spcAft>
                <a:spcPct val="0"/>
              </a:spcAft>
              <a:buClrTx/>
              <a:buSzTx/>
              <a:buFontTx/>
              <a:buChar char="•"/>
            </a:pPr>
            <a:r>
              <a:rPr lang="en-US" sz="1800" dirty="0"/>
              <a:t>Gained valuable experience in transforming raw database records into actionable business insights for </a:t>
            </a:r>
            <a:r>
              <a:rPr lang="en-US" sz="1800" b="1" dirty="0"/>
              <a:t>better decision-making and inventory management</a:t>
            </a:r>
            <a:r>
              <a:rPr lang="en-US" sz="1800" dirty="0"/>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ADEB01B7-0226-8CD2-9121-730E95DB7724}"/>
              </a:ext>
            </a:extLst>
          </p:cNvPr>
          <p:cNvPicPr>
            <a:picLocks noChangeAspect="1"/>
          </p:cNvPicPr>
          <p:nvPr/>
        </p:nvPicPr>
        <p:blipFill>
          <a:blip r:embed="rId2"/>
          <a:stretch>
            <a:fillRect/>
          </a:stretch>
        </p:blipFill>
        <p:spPr>
          <a:xfrm>
            <a:off x="7862006" y="70916"/>
            <a:ext cx="3763938" cy="2509293"/>
          </a:xfrm>
          <a:prstGeom prst="rect">
            <a:avLst/>
          </a:prstGeom>
        </p:spPr>
      </p:pic>
    </p:spTree>
    <p:extLst>
      <p:ext uri="{BB962C8B-B14F-4D97-AF65-F5344CB8AC3E}">
        <p14:creationId xmlns:p14="http://schemas.microsoft.com/office/powerpoint/2010/main" val="2637090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B5A631-EF11-A67A-7201-122935399D2E}"/>
              </a:ext>
            </a:extLst>
          </p:cNvPr>
          <p:cNvSpPr txBox="1"/>
          <p:nvPr/>
        </p:nvSpPr>
        <p:spPr>
          <a:xfrm>
            <a:off x="668868" y="1153886"/>
            <a:ext cx="7081761" cy="4426853"/>
          </a:xfrm>
          <a:prstGeom prst="rect">
            <a:avLst/>
          </a:prstGeom>
          <a:noFill/>
        </p:spPr>
        <p:txBody>
          <a:bodyPr wrap="square">
            <a:spAutoFit/>
          </a:bodyPr>
          <a:lstStyle/>
          <a:p>
            <a:pPr>
              <a:lnSpc>
                <a:spcPct val="150000"/>
              </a:lnSpc>
              <a:buNone/>
            </a:pPr>
            <a:r>
              <a:rPr lang="en-US" sz="2800" b="1" dirty="0">
                <a:solidFill>
                  <a:srgbClr val="FF0000"/>
                </a:solidFill>
              </a:rPr>
              <a:t>Learning Experience:</a:t>
            </a:r>
          </a:p>
          <a:p>
            <a:pPr>
              <a:lnSpc>
                <a:spcPct val="150000"/>
              </a:lnSpc>
              <a:buFont typeface="Arial" panose="020B0604020202020204" pitchFamily="34" charset="0"/>
              <a:buChar char="•"/>
            </a:pPr>
            <a:r>
              <a:rPr lang="en-US" sz="1800" dirty="0"/>
              <a:t>Gained practical knowledge </a:t>
            </a:r>
            <a:r>
              <a:rPr lang="en-US" sz="1800" b="1" dirty="0"/>
              <a:t>of SQL queries, joins, filtering, and aggregation techniques. </a:t>
            </a:r>
          </a:p>
          <a:p>
            <a:pPr>
              <a:lnSpc>
                <a:spcPct val="150000"/>
              </a:lnSpc>
              <a:buFont typeface="Arial" panose="020B0604020202020204" pitchFamily="34" charset="0"/>
              <a:buChar char="•"/>
            </a:pPr>
            <a:r>
              <a:rPr lang="en-US" sz="1800" dirty="0"/>
              <a:t>Improved understanding of database relationships and table connectivity. Learned how to analyze real-time library management data efficiently. </a:t>
            </a:r>
          </a:p>
          <a:p>
            <a:pPr>
              <a:lnSpc>
                <a:spcPct val="150000"/>
              </a:lnSpc>
              <a:buFont typeface="Arial" panose="020B0604020202020204" pitchFamily="34" charset="0"/>
              <a:buChar char="•"/>
            </a:pPr>
            <a:r>
              <a:rPr lang="en-US" sz="1800" dirty="0"/>
              <a:t>Enhanced problem-solving skills through complex query execution. </a:t>
            </a:r>
          </a:p>
          <a:p>
            <a:pPr>
              <a:lnSpc>
                <a:spcPct val="150000"/>
              </a:lnSpc>
              <a:buFont typeface="Arial" panose="020B0604020202020204" pitchFamily="34" charset="0"/>
              <a:buChar char="•"/>
            </a:pPr>
            <a:r>
              <a:rPr lang="en-US" sz="1800" dirty="0"/>
              <a:t>Developed the ability to transform raw data into meaningful business insights. Developed </a:t>
            </a:r>
            <a:r>
              <a:rPr lang="en-US" sz="1800" b="1" dirty="0"/>
              <a:t>problem-solving skills</a:t>
            </a:r>
            <a:r>
              <a:rPr lang="en-US" sz="1800" dirty="0"/>
              <a:t> while handling real-world data</a:t>
            </a:r>
          </a:p>
        </p:txBody>
      </p:sp>
      <p:pic>
        <p:nvPicPr>
          <p:cNvPr id="7" name="Picture 6">
            <a:extLst>
              <a:ext uri="{FF2B5EF4-FFF2-40B4-BE49-F238E27FC236}">
                <a16:creationId xmlns:a16="http://schemas.microsoft.com/office/drawing/2014/main" id="{CEF92016-89A9-6013-BCDF-5EDEEB245A76}"/>
              </a:ext>
            </a:extLst>
          </p:cNvPr>
          <p:cNvPicPr>
            <a:picLocks noChangeAspect="1"/>
          </p:cNvPicPr>
          <p:nvPr/>
        </p:nvPicPr>
        <p:blipFill>
          <a:blip r:embed="rId2"/>
          <a:stretch>
            <a:fillRect/>
          </a:stretch>
        </p:blipFill>
        <p:spPr>
          <a:xfrm>
            <a:off x="7658100" y="228600"/>
            <a:ext cx="4212772" cy="2808514"/>
          </a:xfrm>
          <a:prstGeom prst="rect">
            <a:avLst/>
          </a:prstGeom>
        </p:spPr>
      </p:pic>
    </p:spTree>
    <p:extLst>
      <p:ext uri="{BB962C8B-B14F-4D97-AF65-F5344CB8AC3E}">
        <p14:creationId xmlns:p14="http://schemas.microsoft.com/office/powerpoint/2010/main" val="2850160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699</TotalTime>
  <Words>1382</Words>
  <Application>Microsoft Office PowerPoint</Application>
  <PresentationFormat>Widescreen</PresentationFormat>
  <Paragraphs>112</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Lato Black</vt:lpstr>
      <vt:lpstr>Libre Baskerville</vt:lpstr>
      <vt:lpstr>Arial</vt:lpstr>
      <vt:lpstr>Times New Roman</vt:lpstr>
      <vt:lpstr>Office Theme</vt:lpstr>
      <vt:lpstr>PowerPoint Presentation</vt:lpstr>
      <vt:lpstr>About me : </vt:lpstr>
      <vt:lpstr>Project Agenda – SQL Library Database Analysis </vt:lpstr>
      <vt:lpstr> Objective of the Project </vt:lpstr>
      <vt:lpstr>System Design Overview</vt:lpstr>
      <vt:lpstr>Key Analysis Use Cases – Library Database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PowerPoint Presentation</vt:lpstr>
      <vt:lpstr>Experiences &amp; Challenges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Pavan Akuthota</cp:lastModifiedBy>
  <cp:revision>18</cp:revision>
  <dcterms:created xsi:type="dcterms:W3CDTF">2021-02-16T05:19:01Z</dcterms:created>
  <dcterms:modified xsi:type="dcterms:W3CDTF">2026-05-18T11:05:37Z</dcterms:modified>
</cp:coreProperties>
</file>